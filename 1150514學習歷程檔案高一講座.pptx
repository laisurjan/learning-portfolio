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323" r:id="rId2"/>
    <p:sldId id="324" r:id="rId3"/>
    <p:sldId id="361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2" r:id="rId14"/>
    <p:sldId id="371" r:id="rId15"/>
    <p:sldId id="374" r:id="rId16"/>
    <p:sldId id="376" r:id="rId17"/>
    <p:sldId id="375" r:id="rId18"/>
    <p:sldId id="381" r:id="rId19"/>
    <p:sldId id="382" r:id="rId20"/>
    <p:sldId id="384" r:id="rId21"/>
    <p:sldId id="377" r:id="rId22"/>
    <p:sldId id="325" r:id="rId23"/>
    <p:sldId id="326" r:id="rId24"/>
    <p:sldId id="327" r:id="rId25"/>
    <p:sldId id="385" r:id="rId26"/>
    <p:sldId id="386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1" r:id="rId41"/>
    <p:sldId id="342" r:id="rId42"/>
    <p:sldId id="343" r:id="rId43"/>
    <p:sldId id="344" r:id="rId44"/>
    <p:sldId id="345" r:id="rId45"/>
    <p:sldId id="346" r:id="rId46"/>
    <p:sldId id="347" r:id="rId47"/>
    <p:sldId id="348" r:id="rId48"/>
    <p:sldId id="349" r:id="rId49"/>
    <p:sldId id="350" r:id="rId50"/>
    <p:sldId id="351" r:id="rId51"/>
    <p:sldId id="352" r:id="rId52"/>
    <p:sldId id="353" r:id="rId53"/>
    <p:sldId id="354" r:id="rId54"/>
    <p:sldId id="355" r:id="rId55"/>
    <p:sldId id="356" r:id="rId56"/>
    <p:sldId id="378" r:id="rId57"/>
    <p:sldId id="379" r:id="rId58"/>
    <p:sldId id="380" r:id="rId59"/>
    <p:sldId id="357" r:id="rId60"/>
    <p:sldId id="358" r:id="rId61"/>
    <p:sldId id="359" r:id="rId62"/>
    <p:sldId id="360" r:id="rId6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9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99" autoAdjust="0"/>
    <p:restoredTop sz="94660"/>
  </p:normalViewPr>
  <p:slideViewPr>
    <p:cSldViewPr snapToGrid="0">
      <p:cViewPr varScale="1">
        <p:scale>
          <a:sx n="71" d="100"/>
          <a:sy n="71" d="100"/>
        </p:scale>
        <p:origin x="5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BF5E4-B457-4B98-9D5C-DB586CF7445F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F63424-B134-40B5-B19E-34396D56BB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90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CCA9C-7374-FAA6-203C-BE72A19D9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C833A9E-687C-EFE5-DF82-E0EA2A854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DD6598-311E-918D-9062-12F8C6A61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B6412B8-34A4-1FD7-BE0A-7191B1DA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D08256-957F-CBF2-A0D0-34E1C55D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32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6D6D61-C49F-4DE4-AECC-C0141408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767661-A1E3-1590-87BA-03BAA133B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FA4FB9-80BE-1BB5-4E1C-26C9591B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2C990E-4DDC-8A7D-69EE-D0715E02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B257D4-A9F5-BC8B-87C9-3E1A30A3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0185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01BD59-B99A-6891-B550-EDA1531BF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0FD041-86D5-6FF1-8726-2A5BEB9D7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532D75-5839-FD92-FC92-B0DE895D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73C168-FB2E-CFFC-DBC8-6006A0AC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33551F-F29E-423D-9525-711B752E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979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1892A5-108C-DFCE-8A12-8B399A796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94385B-CA9B-A95F-0178-AC980C3FC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1CFDBB3-A241-867C-1719-A79B41A18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5F35FD-D1F3-7DA3-BD83-38219698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2B10201-202D-C5DB-2E3C-55768D29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61D341-440D-7D41-EBA7-D83B1578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915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BC998E-342B-0E4F-18C7-A05AF08FF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91A34C-2AD9-5EDF-97FC-589721578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1F7779E-DC38-AB3B-8DC3-767F15C40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3DDD463-2853-3186-07F3-1AF7E3500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690DF31-4A43-1E92-1BE3-B3DB81888F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5A42DD7-90B6-637D-283C-FF6A902B7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70CD61D-951B-313B-4C01-B3B6161A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C96F51-56C6-F89A-E795-9AA5F381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2155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C8AA7-25E7-E7DE-0C10-E4C66B38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CCFB9F0-27D7-6E8E-A061-52E978E9D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B709BED-991C-FAD6-7854-7E668929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34D5885-F049-6428-FF18-49E218538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27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7EFFA2-483B-EB18-8A04-9896E6765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EC64A9A-659C-3006-011B-37F6549EE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2D26DD-2807-D412-114A-D1B8CD08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299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5AED0-0148-748C-D6C6-79B9322D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06DBEA-7F91-1D03-B9C8-4F554863B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66D3F97-AE01-508F-9043-006381E40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4A14DBF-102B-407B-444F-BF3C70D8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0F412A-DC41-42D7-FD54-B3D3BC09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6D8ED0-0FAA-5C47-53FE-17A74C766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8008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2DE14E-678C-6991-8C5F-26C61BDFF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5AC9AF2-5ABD-2DBF-C384-90E2C0F54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264A180-5126-64AA-1314-BEC3BBEFB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496F7C-27B2-0A1D-A83D-5B594AF77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EEE2FC-0383-37FE-0BCD-D02F17FBC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544B9A-2AE2-9E40-7631-EA828F04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068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E6D534-C01B-24D3-CB65-84DCBF67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0F26660-4E4B-C8E1-5262-1FAB79E60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4D4CB0-B082-7E33-6139-33C4EAA6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141F0C-59EA-FFE5-611B-511E7C07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80944F-056F-4A8C-9626-5ACE0117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7307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B3CE9AB-0F18-FE52-ECF6-F8BD41986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C00A8ED-DB71-7C85-5B1F-84883FAA6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0EBF12-47AD-9A27-ECA5-85FC4088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B337CA-2683-C28C-838A-A5C0FDA9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2AAAFE-1A16-BC6F-63FD-104FD8DE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68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2B595A3-0B7B-537D-4DCD-6F5A03DEF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E56752-24D8-8D42-96E3-1DCDE514A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3ADFC5-C855-A9AA-297E-0BC2F3892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AF1AA-2807-47D6-A857-E62D7D6609D4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8DCA33-F04E-FB8C-19A3-5FC20224C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F1A8BE-EBCE-B4FC-710B-3A57DFEDE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9A7F7-1E0C-459B-96ED-5EF4AE2C47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69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www.napkin.ai/" TargetMode="External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hyperlink" Target="https://notebooklm.google.com/" TargetMode="External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453BEB2-E96B-5B45-73B6-8D4EAC3F0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927FCF7-A659-D4D5-5131-2D18EFE5A948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3B57653-B3A6-BC6F-D9BE-8FFBBB4961F6}"/>
              </a:ext>
            </a:extLst>
          </p:cNvPr>
          <p:cNvSpPr txBox="1"/>
          <p:nvPr/>
        </p:nvSpPr>
        <p:spPr>
          <a:xfrm>
            <a:off x="3186573" y="1503601"/>
            <a:ext cx="6135013" cy="43396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altLang="zh-TW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5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學習歷程檔案製作</a:t>
            </a:r>
            <a:endParaRPr lang="en-US" altLang="zh-TW" sz="5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5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及系統操作介紹</a:t>
            </a:r>
            <a:endParaRPr lang="en-US" altLang="zh-TW" sz="5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花蓮高商國文科  賴士鈞老師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115.05.14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033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D0052-6524-6ABC-903E-94562761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30EF4-1E1C-8C28-B0E3-15F0B2BC4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3AC8C1B8-2722-4D00-E4DC-6213616CD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26303DEF-09FF-B3EE-6A8B-9DBD1669D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DF45F7AB-D91D-10A1-510C-0D37B77FF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8457957-AF6C-C640-C0DB-6DED0173E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45BA35A-E564-9D7B-B7BA-C8A6F04B84E6}"/>
              </a:ext>
            </a:extLst>
          </p:cNvPr>
          <p:cNvSpPr/>
          <p:nvPr/>
        </p:nvSpPr>
        <p:spPr>
          <a:xfrm>
            <a:off x="451308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363463-60C6-9A45-A332-087EA71FCA23}"/>
              </a:ext>
            </a:extLst>
          </p:cNvPr>
          <p:cNvSpPr/>
          <p:nvPr/>
        </p:nvSpPr>
        <p:spPr>
          <a:xfrm>
            <a:off x="743998" y="1262522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</a:p>
          <a:p>
            <a:pPr marL="0" lvl="1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什麼是學習</a:t>
            </a: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歷程檔案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0E413D-C58B-D4EC-2F1B-77B485DB0AAB}"/>
              </a:ext>
            </a:extLst>
          </p:cNvPr>
          <p:cNvSpPr/>
          <p:nvPr/>
        </p:nvSpPr>
        <p:spPr>
          <a:xfrm>
            <a:off x="6093688" y="451712"/>
            <a:ext cx="5641112" cy="3166122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5C2094-1912-538D-9D4E-D02344917080}"/>
              </a:ext>
            </a:extLst>
          </p:cNvPr>
          <p:cNvSpPr/>
          <p:nvPr/>
        </p:nvSpPr>
        <p:spPr>
          <a:xfrm>
            <a:off x="6096000" y="3618690"/>
            <a:ext cx="5659632" cy="278211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1743C5-CFBB-9DC1-4E9F-B2515422EEEA}"/>
              </a:ext>
            </a:extLst>
          </p:cNvPr>
          <p:cNvSpPr/>
          <p:nvPr/>
        </p:nvSpPr>
        <p:spPr>
          <a:xfrm>
            <a:off x="436451" y="3618690"/>
            <a:ext cx="5657154" cy="278211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E50DA4-9FF5-B59B-0BF7-D0D72FD5F10D}"/>
              </a:ext>
            </a:extLst>
          </p:cNvPr>
          <p:cNvSpPr/>
          <p:nvPr/>
        </p:nvSpPr>
        <p:spPr>
          <a:xfrm>
            <a:off x="6386266" y="1262522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lang="en-US" altLang="zh-TW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 algn="ctr">
              <a:defRPr/>
            </a:pP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好的學檔在哪裡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BE85E1-CE09-C85A-8102-CE68E7CC86F3}"/>
              </a:ext>
            </a:extLst>
          </p:cNvPr>
          <p:cNvSpPr/>
          <p:nvPr/>
        </p:nvSpPr>
        <p:spPr>
          <a:xfrm>
            <a:off x="788300" y="4025843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</a:p>
          <a:p>
            <a:pPr marL="0" lvl="1" algn="ctr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學</a:t>
            </a: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檔上傳介面說明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2F4964-19ED-BF2F-C725-2EB0D9CAC6AD}"/>
              </a:ext>
            </a:extLst>
          </p:cNvPr>
          <p:cNvSpPr/>
          <p:nvPr/>
        </p:nvSpPr>
        <p:spPr>
          <a:xfrm>
            <a:off x="6386266" y="3998778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lang="en-US" altLang="zh-TW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 algn="ctr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學檔製作平台密技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422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65D7B3-3022-8D60-58AE-4E1B19A3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6F37A5-23E9-F5AE-A8E9-77AE13144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460CB109-C67A-8613-6259-3ED777122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A0C5EB68-E510-5CF8-7169-8036486B4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4495F9A5-A844-9387-4C69-8848AF930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BF8F8-DAAC-755E-E665-25E75B605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9E40976-15B6-5376-CCEC-EBF1BBA0FFB7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A76FADB-8A9B-0919-D338-4E4885F70CD1}"/>
              </a:ext>
            </a:extLst>
          </p:cNvPr>
          <p:cNvSpPr txBox="1"/>
          <p:nvPr/>
        </p:nvSpPr>
        <p:spPr>
          <a:xfrm>
            <a:off x="1764197" y="733372"/>
            <a:ext cx="88656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學習歷程檔案是什麼？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AC5CA57-0738-BACD-FE07-B0A0E4EE7173}"/>
              </a:ext>
            </a:extLst>
          </p:cNvPr>
          <p:cNvSpPr txBox="1"/>
          <p:nvPr/>
        </p:nvSpPr>
        <p:spPr>
          <a:xfrm>
            <a:off x="1303003" y="1989703"/>
            <a:ext cx="9773728" cy="3331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108</a:t>
            </a:r>
            <a:r>
              <a:rPr lang="zh-TW" altLang="en-US" sz="36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新課綱實施後，</a:t>
            </a:r>
            <a:endParaRPr lang="en-US" altLang="zh-TW" sz="3600" b="1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教育部希望以學習歷程檔案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透過記錄學生在高中三年的學習歷程與成果，讓升學制度不再限於傳統紙筆測驗的能力</a:t>
            </a:r>
            <a:endParaRPr lang="zh-TW" altLang="en-US" sz="3600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B9FFE4F-094E-43A5-3892-61CD26DAD7D1}"/>
              </a:ext>
            </a:extLst>
          </p:cNvPr>
          <p:cNvSpPr txBox="1"/>
          <p:nvPr/>
        </p:nvSpPr>
        <p:spPr>
          <a:xfrm>
            <a:off x="1277125" y="1972451"/>
            <a:ext cx="9773728" cy="3331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b="1" i="0" dirty="0">
                <a:solidFill>
                  <a:srgbClr val="FFC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108</a:t>
            </a:r>
            <a:r>
              <a:rPr lang="zh-TW" altLang="en-US" sz="3600" b="1" i="0" dirty="0">
                <a:solidFill>
                  <a:srgbClr val="FFC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新課綱實施後，</a:t>
            </a:r>
            <a:endParaRPr lang="en-US" altLang="zh-TW" sz="3600" b="1" i="0" dirty="0">
              <a:solidFill>
                <a:srgbClr val="FFC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b="1" i="0" dirty="0">
                <a:solidFill>
                  <a:srgbClr val="FFC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教育部希望以</a:t>
            </a:r>
            <a:r>
              <a:rPr lang="zh-TW" altLang="en-US" sz="3600" b="1" i="0" u="sng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學習歷程檔案</a:t>
            </a:r>
            <a:r>
              <a:rPr lang="zh-TW" altLang="en-US" sz="36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3600" b="1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b="1" i="0" dirty="0">
                <a:solidFill>
                  <a:srgbClr val="FFC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透過記錄學生在高中三年的學習歷程與成果，讓升學制度不再限於傳統紙筆測驗的能力</a:t>
            </a:r>
            <a:endParaRPr lang="zh-TW" altLang="en-US" sz="36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92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8FBAC-C071-8D8F-CDAE-385BF08BA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7340C1-EC83-F2A3-8A31-840EC3894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7258DD6B-24B4-EE6E-813C-A2950551A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0B24624A-628D-061B-7974-12DDF4166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B78B701A-3C19-94B6-738F-4232FA6A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C7E923-1E05-074B-C4DB-ADDA30115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777EEC0-D017-595B-1211-7E28E4A52FC0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AADFDE7-C5CF-B88F-4759-211DE25BE000}"/>
              </a:ext>
            </a:extLst>
          </p:cNvPr>
          <p:cNvSpPr txBox="1"/>
          <p:nvPr/>
        </p:nvSpPr>
        <p:spPr>
          <a:xfrm>
            <a:off x="1417487" y="480703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現行制度的四技二專升學管道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9A07847-56DC-3A3A-E46A-4B342CA3143F}"/>
              </a:ext>
            </a:extLst>
          </p:cNvPr>
          <p:cNvSpPr/>
          <p:nvPr/>
        </p:nvSpPr>
        <p:spPr>
          <a:xfrm>
            <a:off x="2366007" y="4717320"/>
            <a:ext cx="3437064" cy="153075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技職繁星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7AD5882-3DB7-5525-32A9-48EFADD9A4CD}"/>
              </a:ext>
            </a:extLst>
          </p:cNvPr>
          <p:cNvSpPr/>
          <p:nvPr/>
        </p:nvSpPr>
        <p:spPr>
          <a:xfrm>
            <a:off x="6395244" y="4711265"/>
            <a:ext cx="3430749" cy="153075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登記分發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E579F22-AC43-5B65-6840-397E50EFD502}"/>
              </a:ext>
            </a:extLst>
          </p:cNvPr>
          <p:cNvSpPr/>
          <p:nvPr/>
        </p:nvSpPr>
        <p:spPr>
          <a:xfrm>
            <a:off x="1716140" y="3048195"/>
            <a:ext cx="3437064" cy="151725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技優甄審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962C717-44E4-AECA-33E1-9C4F788F8948}"/>
              </a:ext>
            </a:extLst>
          </p:cNvPr>
          <p:cNvSpPr/>
          <p:nvPr/>
        </p:nvSpPr>
        <p:spPr>
          <a:xfrm>
            <a:off x="4378313" y="1448451"/>
            <a:ext cx="3430750" cy="148960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特殊選才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84738BC-1A0F-FA50-E258-BDF051FBF5E9}"/>
              </a:ext>
            </a:extLst>
          </p:cNvPr>
          <p:cNvSpPr/>
          <p:nvPr/>
        </p:nvSpPr>
        <p:spPr>
          <a:xfrm>
            <a:off x="7045110" y="3079858"/>
            <a:ext cx="3430750" cy="148960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甄選入學</a:t>
            </a:r>
          </a:p>
        </p:txBody>
      </p:sp>
    </p:spTree>
    <p:extLst>
      <p:ext uri="{BB962C8B-B14F-4D97-AF65-F5344CB8AC3E}">
        <p14:creationId xmlns:p14="http://schemas.microsoft.com/office/powerpoint/2010/main" val="251979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27CA2-8CEC-EA7B-94F9-2DB7B289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88DC16-10C7-6FF1-A84A-AB7342749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81391FD2-79E1-A18A-6FF2-DBD82D7AE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D4343904-BD21-80EB-AEC9-75901B83D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39D3CA9B-0476-43C3-3C60-A4566A2E0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47454C4-58C9-FECB-FAA3-4D18F4A32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D2A2052-BDCC-F9FF-FF18-CAE869AC73CE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14AC9A-150C-505F-F32F-FF7ED9B1D1D5}"/>
              </a:ext>
            </a:extLst>
          </p:cNvPr>
          <p:cNvSpPr txBox="1"/>
          <p:nvPr/>
        </p:nvSpPr>
        <p:spPr>
          <a:xfrm>
            <a:off x="1417487" y="480703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現行制度的四技二專升學管道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53CF45A-B88D-1EE2-18BF-284E78E0BA43}"/>
              </a:ext>
            </a:extLst>
          </p:cNvPr>
          <p:cNvSpPr/>
          <p:nvPr/>
        </p:nvSpPr>
        <p:spPr>
          <a:xfrm>
            <a:off x="2366007" y="4717320"/>
            <a:ext cx="3437064" cy="153075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技職繁星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2423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F1AF18C-49F8-0A63-C146-DD277B8BC07F}"/>
              </a:ext>
            </a:extLst>
          </p:cNvPr>
          <p:cNvSpPr/>
          <p:nvPr/>
        </p:nvSpPr>
        <p:spPr>
          <a:xfrm>
            <a:off x="6395244" y="4711265"/>
            <a:ext cx="3430749" cy="153075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登記分發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9899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19.3%)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6073A5C-A667-4B5F-A315-99D2068DF8D1}"/>
              </a:ext>
            </a:extLst>
          </p:cNvPr>
          <p:cNvSpPr/>
          <p:nvPr/>
        </p:nvSpPr>
        <p:spPr>
          <a:xfrm>
            <a:off x="1716140" y="3048195"/>
            <a:ext cx="3437064" cy="151725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技優甄審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4122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CBA31F0-3894-8120-7E7E-4B2825F00327}"/>
              </a:ext>
            </a:extLst>
          </p:cNvPr>
          <p:cNvSpPr/>
          <p:nvPr/>
        </p:nvSpPr>
        <p:spPr>
          <a:xfrm>
            <a:off x="4378313" y="1448451"/>
            <a:ext cx="3430750" cy="148960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特殊選才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1582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536C703-9540-B17B-FE88-6CB71A6F6BCA}"/>
              </a:ext>
            </a:extLst>
          </p:cNvPr>
          <p:cNvSpPr/>
          <p:nvPr/>
        </p:nvSpPr>
        <p:spPr>
          <a:xfrm>
            <a:off x="7045110" y="3075839"/>
            <a:ext cx="3430750" cy="148960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甄選入學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32720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63.8%)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6121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1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3ACC1-2DB6-777D-D6AF-5A82D62A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655ED48-5C8E-8EA6-C4C2-7601219F2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3445D98F-3AA1-2C22-ABEB-07066870E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3AC0138A-3D74-8F50-0BCD-2ADD269DA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C0ACC1B5-BA72-6718-6E66-4DCAEE628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DBE5A47-022F-C13A-5B01-05767537B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7D4BF03-7188-0092-0530-5FC3AAD5788F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DC6A302-118F-F223-3EEF-5A0FAC24D73B}"/>
              </a:ext>
            </a:extLst>
          </p:cNvPr>
          <p:cNvSpPr txBox="1"/>
          <p:nvPr/>
        </p:nvSpPr>
        <p:spPr>
          <a:xfrm>
            <a:off x="1426113" y="469940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不用看學習歷程檔案的管道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73349A7-F954-1FA9-71D3-75922F047EA5}"/>
              </a:ext>
            </a:extLst>
          </p:cNvPr>
          <p:cNvSpPr/>
          <p:nvPr/>
        </p:nvSpPr>
        <p:spPr>
          <a:xfrm>
            <a:off x="2417766" y="2171176"/>
            <a:ext cx="3437064" cy="153075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技職繁星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2423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5969A5B-2D37-0465-A7FE-AF35FCF2FA05}"/>
              </a:ext>
            </a:extLst>
          </p:cNvPr>
          <p:cNvSpPr/>
          <p:nvPr/>
        </p:nvSpPr>
        <p:spPr>
          <a:xfrm>
            <a:off x="6447003" y="2165121"/>
            <a:ext cx="3430749" cy="153075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登記分發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9899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19.3%)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AF9C21E-C7C5-F090-E1C1-FAE6E8DF01A4}"/>
              </a:ext>
            </a:extLst>
          </p:cNvPr>
          <p:cNvSpPr txBox="1"/>
          <p:nvPr/>
        </p:nvSpPr>
        <p:spPr>
          <a:xfrm>
            <a:off x="1304026" y="4158698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只佔</a:t>
            </a:r>
            <a:r>
              <a:rPr lang="zh-TW" altLang="en-US" sz="5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總名額不到</a:t>
            </a:r>
            <a:r>
              <a:rPr lang="en-US" altLang="zh-TW" sz="5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30%</a:t>
            </a:r>
            <a:endParaRPr lang="zh-TW" altLang="en-US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9193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79F5D-F744-9E26-6136-CE6CE9BE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2636EC5-7490-892A-F1B8-D5AD44DF1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D1F39146-77CB-DB08-E03D-1947AA51B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2BAC1F52-D685-8D79-2DF5-4F819651B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B5A9288A-EAC5-7A19-0D25-784661C0E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68DB60-A70D-7695-0682-926FAB00E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4F24543-F45B-46AC-90F0-F02461DA0DCB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04CDFE-BDB8-9207-D636-E70BDFD74D42}"/>
              </a:ext>
            </a:extLst>
          </p:cNvPr>
          <p:cNvSpPr txBox="1"/>
          <p:nvPr/>
        </p:nvSpPr>
        <p:spPr>
          <a:xfrm>
            <a:off x="1426113" y="469940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不用看學習歷程檔案的管道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8F7BD160-F90F-3B14-5B6B-03D9BE2F565F}"/>
              </a:ext>
            </a:extLst>
          </p:cNvPr>
          <p:cNvSpPr/>
          <p:nvPr/>
        </p:nvSpPr>
        <p:spPr>
          <a:xfrm>
            <a:off x="4375156" y="1609501"/>
            <a:ext cx="3437064" cy="153075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技職繁星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2423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EFFC2DA-AA3F-CBF8-A4CB-D8AC3F76D007}"/>
              </a:ext>
            </a:extLst>
          </p:cNvPr>
          <p:cNvSpPr txBox="1"/>
          <p:nvPr/>
        </p:nvSpPr>
        <p:spPr>
          <a:xfrm>
            <a:off x="1426112" y="3325581"/>
            <a:ext cx="958394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只看五學期在校成績百分比</a:t>
            </a:r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群排名</a:t>
            </a:r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校校等值、簡單粗暴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適合在校名列前茅，無弱科的同學</a:t>
            </a:r>
          </a:p>
        </p:txBody>
      </p:sp>
    </p:spTree>
    <p:extLst>
      <p:ext uri="{BB962C8B-B14F-4D97-AF65-F5344CB8AC3E}">
        <p14:creationId xmlns:p14="http://schemas.microsoft.com/office/powerpoint/2010/main" val="2131025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0FCC8-65EB-BF9F-AE89-47853F94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9C734F-2F5A-5BA1-90CE-9A92D56AA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FA0566DD-3737-F198-86C2-D8DEF5BD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B56EEFF7-41C8-5221-AA8F-780D30C2E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E414CCD4-2614-FFD1-1E7F-946818992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6F2FABE-555D-F976-DEB1-1D9C7B9CE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AD71BB0-82EC-184E-5190-9E55983F034E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8210A77-F1B4-4F52-3B16-4F287F2BB232}"/>
              </a:ext>
            </a:extLst>
          </p:cNvPr>
          <p:cNvSpPr txBox="1"/>
          <p:nvPr/>
        </p:nvSpPr>
        <p:spPr>
          <a:xfrm>
            <a:off x="1426113" y="469940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不用看學習歷程檔案的管道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AFF5B67-AE31-DDBA-6252-E89A1AB6EE67}"/>
              </a:ext>
            </a:extLst>
          </p:cNvPr>
          <p:cNvSpPr txBox="1"/>
          <p:nvPr/>
        </p:nvSpPr>
        <p:spPr>
          <a:xfrm>
            <a:off x="1426113" y="3246317"/>
            <a:ext cx="958394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只看統測科目成績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傳統考試決高下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簡單方便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暑假最短暫</a:t>
            </a:r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(8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月才放榜</a:t>
            </a:r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683CAAF-DEC8-8033-96C6-915B3C45068C}"/>
              </a:ext>
            </a:extLst>
          </p:cNvPr>
          <p:cNvSpPr/>
          <p:nvPr/>
        </p:nvSpPr>
        <p:spPr>
          <a:xfrm>
            <a:off x="4502710" y="1609500"/>
            <a:ext cx="3430749" cy="153075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登記分發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9899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19.3%)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928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1A539-74A3-CD00-C31C-AD6FB708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948F76-8D3F-8C60-1CA8-FA62C0C6D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A1F914AB-3317-26AE-1107-42ED23407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C01BC9C6-C484-0FD3-9528-9BA834258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C3B5EC0-1EAD-1DDB-5FCF-93455B27F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0817A09-1C83-9465-FDDE-CB3B7B96E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DC4DB50-6B21-B56E-26ED-C9D866A92F1C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C02E3C2-3CD1-DE64-D753-DE55C8CEBE22}"/>
              </a:ext>
            </a:extLst>
          </p:cNvPr>
          <p:cNvSpPr txBox="1"/>
          <p:nvPr/>
        </p:nvSpPr>
        <p:spPr>
          <a:xfrm>
            <a:off x="1417487" y="480703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3F60711-9A2C-B555-C90A-4A96F5464A2F}"/>
              </a:ext>
            </a:extLst>
          </p:cNvPr>
          <p:cNvSpPr/>
          <p:nvPr/>
        </p:nvSpPr>
        <p:spPr>
          <a:xfrm>
            <a:off x="1716140" y="3048195"/>
            <a:ext cx="3437064" cy="151725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技優甄審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4122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AC5192C-7020-FCF3-E74B-D2394B3B3DC1}"/>
              </a:ext>
            </a:extLst>
          </p:cNvPr>
          <p:cNvSpPr/>
          <p:nvPr/>
        </p:nvSpPr>
        <p:spPr>
          <a:xfrm>
            <a:off x="4378313" y="1448451"/>
            <a:ext cx="3430750" cy="148960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特殊選才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1582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5D0CEBD-7E5D-8E9A-B3C5-517B69F786DF}"/>
              </a:ext>
            </a:extLst>
          </p:cNvPr>
          <p:cNvSpPr/>
          <p:nvPr/>
        </p:nvSpPr>
        <p:spPr>
          <a:xfrm>
            <a:off x="7045110" y="3075839"/>
            <a:ext cx="3430750" cy="148960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甄選入學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32720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63.8%)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4B1FD83-9688-8E57-9EDF-17A0E5286F37}"/>
              </a:ext>
            </a:extLst>
          </p:cNvPr>
          <p:cNvSpPr/>
          <p:nvPr/>
        </p:nvSpPr>
        <p:spPr>
          <a:xfrm>
            <a:off x="4378313" y="4737891"/>
            <a:ext cx="3430750" cy="148960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學測申請入學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50450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須和普高生競爭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563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734F4-C27D-4BFB-4716-B6E430BEB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B5B5BB-5AB3-31AE-96AF-4570F9EC8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A835F4F5-5052-76D1-D176-2602E85CB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E9C5FED8-F642-B61D-742F-705E50E44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5E9FC7E5-F7CA-2E2D-9AD5-CBD853AD5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F55F6E-6AE6-F56B-0CF4-900C8E93C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FF5079F-710F-E726-04E6-2E06F45C01A3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6D55D7B-5CFF-1533-80B2-6D776E08FE62}"/>
              </a:ext>
            </a:extLst>
          </p:cNvPr>
          <p:cNvSpPr txBox="1"/>
          <p:nvPr/>
        </p:nvSpPr>
        <p:spPr>
          <a:xfrm>
            <a:off x="1417487" y="480703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DA393CF-C2FC-488A-8AA1-CB91B25DE18A}"/>
              </a:ext>
            </a:extLst>
          </p:cNvPr>
          <p:cNvSpPr/>
          <p:nvPr/>
        </p:nvSpPr>
        <p:spPr>
          <a:xfrm>
            <a:off x="1716140" y="3048195"/>
            <a:ext cx="3437064" cy="151725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技優甄審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4122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1633EF3-4376-65CC-5378-0B6490F606E5}"/>
              </a:ext>
            </a:extLst>
          </p:cNvPr>
          <p:cNvSpPr/>
          <p:nvPr/>
        </p:nvSpPr>
        <p:spPr>
          <a:xfrm>
            <a:off x="4378313" y="1448451"/>
            <a:ext cx="3430750" cy="148960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特殊選才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1582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7B0FBE7-BB27-9AFE-9219-203D2B230FCC}"/>
              </a:ext>
            </a:extLst>
          </p:cNvPr>
          <p:cNvSpPr/>
          <p:nvPr/>
        </p:nvSpPr>
        <p:spPr>
          <a:xfrm>
            <a:off x="7045110" y="3075839"/>
            <a:ext cx="3430750" cy="148960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甄選入學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32720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63.8%)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5E58CB-0B6A-CE3B-08CF-35BBFA37DE5F}"/>
              </a:ext>
            </a:extLst>
          </p:cNvPr>
          <p:cNvSpPr txBox="1"/>
          <p:nvPr/>
        </p:nvSpPr>
        <p:spPr>
          <a:xfrm>
            <a:off x="1038121" y="4932495"/>
            <a:ext cx="103426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名額</a:t>
            </a:r>
            <a:r>
              <a:rPr lang="en-US" altLang="zh-TW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70%</a:t>
            </a:r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，還有機會進普通大學！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9591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66E6A-4B85-C92C-8876-BAA0AD874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CE7F36C-AC00-DDA5-A874-C02AFEBA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4CD999B4-2BE3-569E-3514-55BCB6DD6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97B338CF-0D78-D18A-EC02-78FFA532B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8434C7D0-9A2C-E98B-1755-B3241C425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7180D1E-57DE-88B1-E051-316EE6900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476E8C8-CE39-54BF-C79A-709A850958CF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C135B8E-4252-30F8-7F06-0703AA06439E}"/>
              </a:ext>
            </a:extLst>
          </p:cNvPr>
          <p:cNvSpPr txBox="1"/>
          <p:nvPr/>
        </p:nvSpPr>
        <p:spPr>
          <a:xfrm>
            <a:off x="1417487" y="480703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A08EF4E-0FCB-37D9-3A70-3EC8F301E3B5}"/>
              </a:ext>
            </a:extLst>
          </p:cNvPr>
          <p:cNvSpPr/>
          <p:nvPr/>
        </p:nvSpPr>
        <p:spPr>
          <a:xfrm>
            <a:off x="4378313" y="1448451"/>
            <a:ext cx="3430750" cy="1489607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特殊選才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1582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B7DE7BA-1C17-7786-A4A8-1F4623DC8017}"/>
              </a:ext>
            </a:extLst>
          </p:cNvPr>
          <p:cNvSpPr txBox="1"/>
          <p:nvPr/>
        </p:nvSpPr>
        <p:spPr>
          <a:xfrm>
            <a:off x="727113" y="3246317"/>
            <a:ext cx="107634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高一二就要準備豐富資料，長期抗戰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報考學校無上限，花費較高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不看大考，名額稀少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必須真的很特別</a:t>
            </a:r>
            <a:r>
              <a:rPr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清寒、技能、資安、語言</a:t>
            </a:r>
            <a:r>
              <a:rPr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613509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C5013-1B44-AD10-6568-C8CBE2DD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D18CCD-83E1-D1F3-4B99-8E10AB5F2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5EC9790E-654D-FBDA-EB90-E2D451B25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F3B7C50E-4488-58A6-ECE0-89EFB787E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8751683E-FF56-0834-F691-EFC6E7D66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15C1818-DBCE-F5A2-3B64-25F247503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325FC95-2D35-3A3A-438F-E5A9BF8FAC2C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2C205C6-60F4-A08F-120A-C703DEA01822}"/>
              </a:ext>
            </a:extLst>
          </p:cNvPr>
          <p:cNvSpPr txBox="1"/>
          <p:nvPr/>
        </p:nvSpPr>
        <p:spPr>
          <a:xfrm>
            <a:off x="1417487" y="480703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BD8330B-0A63-DA13-1723-FC6232840D41}"/>
              </a:ext>
            </a:extLst>
          </p:cNvPr>
          <p:cNvSpPr txBox="1"/>
          <p:nvPr/>
        </p:nvSpPr>
        <p:spPr>
          <a:xfrm>
            <a:off x="727113" y="3246317"/>
            <a:ext cx="107634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需有全國技藝競賽優勝以上或乙級證照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學習歷程檔案決勝負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不看統測成績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適合專業實作技能很強的同學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CCBD6D2-08E8-B572-7AA8-02266C72CB5F}"/>
              </a:ext>
            </a:extLst>
          </p:cNvPr>
          <p:cNvSpPr/>
          <p:nvPr/>
        </p:nvSpPr>
        <p:spPr>
          <a:xfrm>
            <a:off x="4490928" y="1604985"/>
            <a:ext cx="3437064" cy="151725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技優甄審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4122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72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8A6DD-6150-1FBC-D106-B9E21FF3A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165E442-F9AC-AAEF-CF63-FD6D57B84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0AF0F039-E878-21FB-8482-89D4D1C00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8613D33D-BFE7-2939-CCEB-5212083BD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1C416174-55CA-D650-3AA6-9B4C55CE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F9C0FE4-93EB-A3B8-42D8-9AFC56DD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EB01453-85E4-43E1-DE1D-BE3AA9D0F79C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02C498D-F79B-5E92-1185-854B89320A5E}"/>
              </a:ext>
            </a:extLst>
          </p:cNvPr>
          <p:cNvSpPr txBox="1"/>
          <p:nvPr/>
        </p:nvSpPr>
        <p:spPr>
          <a:xfrm>
            <a:off x="1417487" y="480703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5E5CCC9-205A-9865-C7BC-557BA3C35901}"/>
              </a:ext>
            </a:extLst>
          </p:cNvPr>
          <p:cNvSpPr txBox="1"/>
          <p:nvPr/>
        </p:nvSpPr>
        <p:spPr>
          <a:xfrm>
            <a:off x="727113" y="3246317"/>
            <a:ext cx="107634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最多名額的入學管道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學習歷程檔案泛用性最高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你一定要把握的升學管道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但</a:t>
            </a:r>
            <a:r>
              <a:rPr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9937704-ECC7-BC08-6D73-490259800713}"/>
              </a:ext>
            </a:extLst>
          </p:cNvPr>
          <p:cNvSpPr/>
          <p:nvPr/>
        </p:nvSpPr>
        <p:spPr>
          <a:xfrm>
            <a:off x="2678103" y="1528324"/>
            <a:ext cx="3430750" cy="148960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甄選入學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32720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63.8%)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4298CD8-B265-B23F-0ABA-C855110DF04E}"/>
              </a:ext>
            </a:extLst>
          </p:cNvPr>
          <p:cNvSpPr/>
          <p:nvPr/>
        </p:nvSpPr>
        <p:spPr>
          <a:xfrm>
            <a:off x="6563741" y="1539047"/>
            <a:ext cx="3430750" cy="148960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學測申請入學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50450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須和普高生競爭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9150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002D1-CBF8-B1A8-5B5D-B699D2C1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9B9D86-73AC-DC84-046B-33E2722A3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35BCFAC5-BEFC-E805-B4AE-C04509BC8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7FCA7ABE-A99D-356E-D9B1-BC0CEC34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EA41EDAA-A24A-2B6F-78B7-436285959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E68ED5-82E6-BC33-6D54-5E60EC475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798AA8C-0EB4-CFCF-3BBB-F04A67E7DCF5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72BE412-2739-3227-780D-EE4F4491FFF9}"/>
              </a:ext>
            </a:extLst>
          </p:cNvPr>
          <p:cNvSpPr txBox="1"/>
          <p:nvPr/>
        </p:nvSpPr>
        <p:spPr>
          <a:xfrm>
            <a:off x="1417487" y="480703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EFE4C47-4252-A276-F873-7EDF2931B284}"/>
              </a:ext>
            </a:extLst>
          </p:cNvPr>
          <p:cNvSpPr txBox="1"/>
          <p:nvPr/>
        </p:nvSpPr>
        <p:spPr>
          <a:xfrm>
            <a:off x="727113" y="3246317"/>
            <a:ext cx="107634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考試成績</a:t>
            </a:r>
            <a:r>
              <a:rPr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統測、學測</a:t>
            </a:r>
            <a:r>
              <a:rPr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是門檻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如果沒能通過第一階段篩選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學習歷程檔案全無用武之地</a:t>
            </a:r>
            <a:r>
              <a:rPr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所以高一就要好好上課！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BC315C24-6607-D347-AEBE-A49989CF5307}"/>
              </a:ext>
            </a:extLst>
          </p:cNvPr>
          <p:cNvSpPr/>
          <p:nvPr/>
        </p:nvSpPr>
        <p:spPr>
          <a:xfrm>
            <a:off x="2678103" y="1528324"/>
            <a:ext cx="3430750" cy="148960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甄選入學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32720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63.8%)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5B0B806-ED64-31D3-DB0C-6856C5837202}"/>
              </a:ext>
            </a:extLst>
          </p:cNvPr>
          <p:cNvSpPr/>
          <p:nvPr/>
        </p:nvSpPr>
        <p:spPr>
          <a:xfrm>
            <a:off x="6563741" y="1539047"/>
            <a:ext cx="3430750" cy="148960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學測申請入學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50450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須和普高生競爭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5366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63442-5BAF-3E1D-472B-BD9A5818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9E872A3-340E-4B66-E8C1-560848800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9F19F4A5-41E4-8770-D0DF-CF1C1D2B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8F147BE6-1A60-D4E4-55B3-BBFA10B25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B9135A2D-1373-84E2-7963-7576AEAC2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ABA1288-F214-F95C-9C79-361654EF9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D1449C-51B9-AB0B-AC2F-DBD42BA320D7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08D579F-844F-27B7-0349-A7FC32FFE70E}"/>
              </a:ext>
            </a:extLst>
          </p:cNvPr>
          <p:cNvSpPr txBox="1"/>
          <p:nvPr/>
        </p:nvSpPr>
        <p:spPr>
          <a:xfrm>
            <a:off x="1417487" y="480703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B711EC4-DCE7-DFA7-3C77-53D45D7E6299}"/>
              </a:ext>
            </a:extLst>
          </p:cNvPr>
          <p:cNvSpPr txBox="1"/>
          <p:nvPr/>
        </p:nvSpPr>
        <p:spPr>
          <a:xfrm>
            <a:off x="727113" y="3246317"/>
            <a:ext cx="107634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未來的變動關鍵是</a:t>
            </a:r>
            <a:r>
              <a:rPr lang="zh-TW" altLang="en-US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少子化</a:t>
            </a:r>
            <a:endParaRPr lang="en-US" altLang="zh-TW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116</a:t>
            </a:r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學年入學開始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統測也變成</a:t>
            </a:r>
            <a:r>
              <a:rPr lang="zh-TW" altLang="en-US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選考</a:t>
            </a:r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！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甄選入學最多只能採計</a:t>
            </a:r>
            <a:r>
              <a:rPr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科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B577C595-9351-2D73-D92D-E388D32DAA81}"/>
              </a:ext>
            </a:extLst>
          </p:cNvPr>
          <p:cNvSpPr/>
          <p:nvPr/>
        </p:nvSpPr>
        <p:spPr>
          <a:xfrm>
            <a:off x="4533112" y="1627475"/>
            <a:ext cx="3430750" cy="148960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甄選入學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32720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63.8%)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711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74998-EAD0-F486-94BA-44F3CAF10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21B832F-7DDB-A640-ED99-A72363819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3E6A4E4-9CB8-84BD-0A65-D7B6DF937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29414AB9-24F5-2AB6-F029-7B6A1A5BB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4AEDE9E6-B770-B2A7-C2E4-6709227DB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E11D31F-0D33-D7FF-8C88-5B4C50C4F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0E7A6D5-B1DD-FB28-CD61-3B8339D1B7E0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FC1F495-33DC-BC44-CAB1-C41135BFBD1F}"/>
              </a:ext>
            </a:extLst>
          </p:cNvPr>
          <p:cNvSpPr txBox="1"/>
          <p:nvPr/>
        </p:nvSpPr>
        <p:spPr>
          <a:xfrm>
            <a:off x="1417487" y="480703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1614EA0-07F3-02BC-D28B-BACE6BFD054A}"/>
              </a:ext>
            </a:extLst>
          </p:cNvPr>
          <p:cNvSpPr txBox="1"/>
          <p:nvPr/>
        </p:nvSpPr>
        <p:spPr>
          <a:xfrm>
            <a:off x="727113" y="3246317"/>
            <a:ext cx="107634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也因甄選入學最多只能採計</a:t>
            </a:r>
            <a:r>
              <a:rPr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科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同學不用每科都強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找到你專屬的強科</a:t>
            </a:r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zh-TW" altLang="en-US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有興趣的科</a:t>
            </a:r>
            <a:endParaRPr lang="en-US" altLang="zh-TW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比補救弱科更有優勢！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A3EAA35-6EDB-86D6-7C23-FBE12AF6B865}"/>
              </a:ext>
            </a:extLst>
          </p:cNvPr>
          <p:cNvSpPr/>
          <p:nvPr/>
        </p:nvSpPr>
        <p:spPr>
          <a:xfrm>
            <a:off x="4533112" y="1627475"/>
            <a:ext cx="3430750" cy="148960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甄選入學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32720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63.8%)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5451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58E65-E2A5-5F33-42BC-E3893DFAF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5ADBD9-1A6B-4115-167F-C66849F42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9E7A92D5-E81D-9DAC-008B-83EE29CA9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052E1D26-B483-304F-7509-EF5E6CB7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2C2881C8-49FE-42F4-EDDE-62B001854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90AF626-9835-5253-5B7A-5F48484BC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CDCEC86-F7D5-298C-D0DC-2E15F7486BBF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F8EDCE-C28B-71FC-EC90-89FA532A89BF}"/>
              </a:ext>
            </a:extLst>
          </p:cNvPr>
          <p:cNvSpPr txBox="1"/>
          <p:nvPr/>
        </p:nvSpPr>
        <p:spPr>
          <a:xfrm>
            <a:off x="1417487" y="480703"/>
            <a:ext cx="9583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看學習歷程檔案的管道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F9B5B76-F04C-2603-2D01-49667A7C26E1}"/>
              </a:ext>
            </a:extLst>
          </p:cNvPr>
          <p:cNvSpPr txBox="1"/>
          <p:nvPr/>
        </p:nvSpPr>
        <p:spPr>
          <a:xfrm>
            <a:off x="727113" y="3246317"/>
            <a:ext cx="107634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加上從</a:t>
            </a:r>
            <a:r>
              <a:rPr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117</a:t>
            </a:r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學年度入學</a:t>
            </a:r>
            <a:endParaRPr lang="en-US" altLang="zh-TW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甄選入學篩選倍率上限從</a:t>
            </a:r>
            <a:r>
              <a:rPr lang="en-US" altLang="zh-TW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倍</a:t>
            </a:r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變成</a:t>
            </a:r>
            <a:r>
              <a:rPr lang="en-US" altLang="zh-TW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倍</a:t>
            </a:r>
            <a:endParaRPr lang="en-US" altLang="zh-TW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所同學進入甄選第二階段</a:t>
            </a:r>
            <a:r>
              <a:rPr lang="zh-TW" altLang="en-US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機會更多</a:t>
            </a:r>
            <a:endParaRPr lang="en-US" altLang="zh-TW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用到</a:t>
            </a:r>
            <a:r>
              <a:rPr lang="zh-TW" altLang="en-US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學習歷程檔案</a:t>
            </a:r>
            <a:r>
              <a:rPr lang="zh-TW" altLang="en-US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可能性更高</a:t>
            </a:r>
            <a:endParaRPr lang="en-US" altLang="zh-TW" sz="4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36A5150-566C-B7C1-BCA6-38ADCFAEBAE3}"/>
              </a:ext>
            </a:extLst>
          </p:cNvPr>
          <p:cNvSpPr/>
          <p:nvPr/>
        </p:nvSpPr>
        <p:spPr>
          <a:xfrm>
            <a:off x="4533112" y="1627475"/>
            <a:ext cx="3430750" cy="148960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甄選入學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32720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佔總名額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63.8%)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9760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D39A2-82AE-078B-FB18-271A2CCC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25E060D-8DD8-888B-ECC5-B26CB5DCC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AAEA9B8D-44EE-6FE7-54D1-5DED7D3CB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9F5BD4FF-8811-500E-D521-52C02DB3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C86FB24-76E9-BA9D-0096-41BF67BCC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F51DC4-D444-48DA-2B13-3DA4E2E51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923B98-9E63-1E71-64E3-08D8274F5629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914400" y="2113041"/>
            <a:ext cx="103632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拚精美的同學，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一年精修 1 件精美學檔</a:t>
            </a:r>
            <a:endParaRPr lang="en-US" altLang="zh-TW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先求有的同學，一學期 </a:t>
            </a:r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件粗糙素材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5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兩種都很棒</a:t>
            </a:r>
            <a:endParaRPr lang="en-US" altLang="zh-TW" sz="5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5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但</a:t>
            </a:r>
            <a:r>
              <a:rPr lang="zh-TW" altLang="en-US" sz="50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風險</a:t>
            </a:r>
            <a:r>
              <a:rPr lang="zh-TW" altLang="en-US" sz="5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不一樣</a:t>
            </a:r>
            <a:endParaRPr lang="en-US" altLang="zh-TW" sz="5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637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D39A2-82AE-078B-FB18-271A2CCC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25E060D-8DD8-888B-ECC5-B26CB5DCC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AAEA9B8D-44EE-6FE7-54D1-5DED7D3CB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9F5BD4FF-8811-500E-D521-52C02DB3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C86FB24-76E9-BA9D-0096-41BF67BCC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F51DC4-D444-48DA-2B13-3DA4E2E51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923B98-9E63-1E71-64E3-08D8274F5629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021976" y="1689848"/>
            <a:ext cx="1056042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假如</a:t>
            </a:r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….</a:t>
            </a: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你有一件精美的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專業科目A學習歷程檔案</a:t>
            </a:r>
            <a:endParaRPr lang="en-US" altLang="zh-TW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但統測時，專業科目A沒考好</a:t>
            </a:r>
            <a:endParaRPr lang="en-US" altLang="zh-TW" sz="5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甄選想換群科，但</a:t>
            </a:r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科的學檔不合用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怎麼辦？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637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D39A2-82AE-078B-FB18-271A2CCC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25E060D-8DD8-888B-ECC5-B26CB5DCC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AAEA9B8D-44EE-6FE7-54D1-5DED7D3CB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9F5BD4FF-8811-500E-D521-52C02DB3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C86FB24-76E9-BA9D-0096-41BF67BCC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F51DC4-D444-48DA-2B13-3DA4E2E51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923B98-9E63-1E71-64E3-08D8274F5629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914017" y="1100282"/>
            <a:ext cx="10363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所以建議平常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不管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普通科</a:t>
            </a:r>
            <a:r>
              <a:rPr lang="en-US" altLang="zh-TW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國英數</a:t>
            </a:r>
            <a:r>
              <a:rPr lang="en-US" altLang="zh-TW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、藝能科</a:t>
            </a:r>
            <a:r>
              <a:rPr lang="en-US" altLang="zh-TW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美術體育</a:t>
            </a:r>
            <a:r>
              <a:rPr lang="en-US" altLang="zh-TW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專業與實習科目、</a:t>
            </a:r>
            <a:endParaRPr lang="en-US" altLang="zh-TW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多元表現</a:t>
            </a:r>
            <a:r>
              <a:rPr lang="en-US" altLang="zh-TW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幹部</a:t>
            </a:r>
            <a:r>
              <a:rPr lang="en-US" altLang="zh-TW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活動</a:t>
            </a:r>
            <a:r>
              <a:rPr lang="en-US" altLang="zh-TW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社團</a:t>
            </a:r>
            <a:r>
              <a:rPr lang="en-US" altLang="zh-TW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競賽</a:t>
            </a:r>
            <a:r>
              <a:rPr lang="en-US" altLang="zh-TW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證照</a:t>
            </a:r>
            <a:r>
              <a:rPr lang="en-US" altLang="zh-TW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服務</a:t>
            </a:r>
            <a:r>
              <a:rPr lang="en-US" altLang="zh-TW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都要累積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每一處都是你的素材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兩年後靈活度更高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637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8D782-FA70-008A-FBDA-31B65D821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08543B-3F50-CD20-AE1E-023C4DE0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1D64B079-6954-AB7E-1EE2-E23338AC8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523BC54E-6140-8585-469E-CA42731B1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B3C32B3C-A7FD-9A6E-22F4-5C47B5521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83F6035-9548-A9C7-1AA2-A495868C2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E6743DE-567E-A8A5-0625-F73130359589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B57FC6-C665-8AAB-3534-B20B65A617A2}"/>
              </a:ext>
            </a:extLst>
          </p:cNvPr>
          <p:cNvSpPr txBox="1"/>
          <p:nvPr/>
        </p:nvSpPr>
        <p:spPr>
          <a:xfrm>
            <a:off x="1844879" y="2595050"/>
            <a:ext cx="88656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既然學習歷程檔案那麼重要</a:t>
            </a:r>
            <a:endParaRPr lang="en-US" altLang="zh-TW" sz="5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那我能夠準備什麼？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887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13FE50-21A8-6C3B-7727-B6F86BA8A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721E9F5-5731-E2DD-036B-E8132FC5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4E214315-4E80-9EF8-7185-E2B723E35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11B04594-21C9-4067-2323-5E425E1A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67A564FA-AB47-C7D4-5DB6-60B0A66CB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BB2212-DADE-54D6-2470-B4674B55E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4F16D55-8288-5571-7E5D-86FE07B03B71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6999955-38AF-6004-32D8-522604315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9443" y="1841296"/>
            <a:ext cx="8976891" cy="421439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F9C7293-32A9-315A-ACDA-26700E85B1E2}"/>
              </a:ext>
            </a:extLst>
          </p:cNvPr>
          <p:cNvSpPr/>
          <p:nvPr/>
        </p:nvSpPr>
        <p:spPr>
          <a:xfrm>
            <a:off x="5997888" y="1814744"/>
            <a:ext cx="4488446" cy="4293779"/>
          </a:xfrm>
          <a:prstGeom prst="rect">
            <a:avLst/>
          </a:prstGeom>
          <a:noFill/>
          <a:ln w="1270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E329868-3626-1EED-06BA-B7BE8CC5C3AC}"/>
              </a:ext>
            </a:extLst>
          </p:cNvPr>
          <p:cNvSpPr txBox="1"/>
          <p:nvPr/>
        </p:nvSpPr>
        <p:spPr>
          <a:xfrm>
            <a:off x="1764197" y="733372"/>
            <a:ext cx="88656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學習歷程檔案包含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739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6FC65-4177-FBD1-DB92-8207FB60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EA4DB6-DCA8-112D-F57A-6D39C09FF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E5EC5AB-1D4C-19B3-7E97-824F2CA13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E87246C8-B223-FABE-A851-A479DCF8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8C6D2221-1675-5404-12A2-DA8F21C08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FD4110-781C-4FF4-88D6-373EEB857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9090500-9446-0609-2B68-22E4EF68B426}"/>
              </a:ext>
            </a:extLst>
          </p:cNvPr>
          <p:cNvSpPr/>
          <p:nvPr/>
        </p:nvSpPr>
        <p:spPr>
          <a:xfrm>
            <a:off x="457200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2BCCC5C-35CB-27F9-AB95-9D659AA57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784" y="2059807"/>
            <a:ext cx="7975623" cy="413375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72E466F-3796-B9C1-C9C9-83DD2C7AE4CD}"/>
              </a:ext>
            </a:extLst>
          </p:cNvPr>
          <p:cNvSpPr txBox="1"/>
          <p:nvPr/>
        </p:nvSpPr>
        <p:spPr>
          <a:xfrm>
            <a:off x="2561235" y="802305"/>
            <a:ext cx="7506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什麼時候要上傳和勾選？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520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EA2399-3BE4-3EBB-AAFC-8056F90ED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97C0A7-78A2-A127-C7AA-52C87820A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7E9213C6-0123-8B96-29F7-220EF2024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6A9FFDCF-B3D8-30F1-35CC-E1BAB6D2D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D2DCDF14-7617-5A88-8BA5-78F94BF16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F3B042B-22BE-EA84-C647-4969EB809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FCD8734-E709-8246-7349-3C05A4D6BAF3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FE04F52-FB28-3D66-2DDA-71A783A82A86}"/>
              </a:ext>
            </a:extLst>
          </p:cNvPr>
          <p:cNvSpPr txBox="1"/>
          <p:nvPr/>
        </p:nvSpPr>
        <p:spPr>
          <a:xfrm>
            <a:off x="2561235" y="802305"/>
            <a:ext cx="7506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課程學習成果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118F930-AB9B-9E6E-2398-ADCA7E937A14}"/>
              </a:ext>
            </a:extLst>
          </p:cNvPr>
          <p:cNvSpPr txBox="1"/>
          <p:nvPr/>
        </p:nvSpPr>
        <p:spPr>
          <a:xfrm>
            <a:off x="1431920" y="1900711"/>
            <a:ext cx="932739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有學分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的課程成果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報告、簡報、筆記、活動照片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   是你的素材，不是最終成果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記錄三件事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  「我學到」「有困難」「未來規劃」</a:t>
            </a:r>
            <a:endParaRPr lang="en-US" altLang="zh-TW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量勝於質，志願改變時更好用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69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9DF74-1D45-73EC-5885-68F1B080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331DF1-1B2E-4E80-ECC7-E56610C61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C4619808-5766-B271-C6E6-8C644297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851D2D54-B4B7-2911-5EA7-97DB3D69D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7262DE9A-8EE7-D588-9212-A97DB62DF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8501C8-E6E0-C7FF-C974-A12170987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8576EBF-84A8-4E92-CAB3-A35160310FEB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E486E85-BE28-8EFE-5EF2-68C6DD7CD733}"/>
              </a:ext>
            </a:extLst>
          </p:cNvPr>
          <p:cNvSpPr txBox="1"/>
          <p:nvPr/>
        </p:nvSpPr>
        <p:spPr>
          <a:xfrm>
            <a:off x="2471587" y="780301"/>
            <a:ext cx="7506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多元表現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85CB934-1375-B194-0F92-18D3C69F88F3}"/>
              </a:ext>
            </a:extLst>
          </p:cNvPr>
          <p:cNvSpPr txBox="1"/>
          <p:nvPr/>
        </p:nvSpPr>
        <p:spPr>
          <a:xfrm>
            <a:off x="1640541" y="1962794"/>
            <a:ext cx="948875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沒有學分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的全部在這裡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分類不重要</a:t>
            </a:r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先放其他，高三再分類</a:t>
            </a:r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有得獎很好，失敗也能放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記錄三件事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 「我做了」「我感覺」「我學到」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能呈現</a:t>
            </a:r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態度與成長</a:t>
            </a:r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，所有科系萬用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465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EF96D-3947-BEE8-E0F0-A2A97B4C7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27A730-BA2E-13F2-F519-A470E9847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9CE8AEE-1185-30CE-71C8-490F41F9E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91DB4D41-F6CC-0C19-1803-E754B27B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14B52154-86F7-662C-820C-BD19DB511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0386993-8049-F06E-0FE6-7BDD281A1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337C7FF-7E43-B0A8-001B-D2964506003A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AF5ECC2-EA11-89B9-E928-ADCFD36559CB}"/>
              </a:ext>
            </a:extLst>
          </p:cNvPr>
          <p:cNvSpPr txBox="1"/>
          <p:nvPr/>
        </p:nvSpPr>
        <p:spPr>
          <a:xfrm>
            <a:off x="2561235" y="802305"/>
            <a:ext cx="7506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多元表現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0A02A8-F879-CE04-02F0-75F4FA3C4E4A}"/>
              </a:ext>
            </a:extLst>
          </p:cNvPr>
          <p:cNvSpPr txBox="1"/>
          <p:nvPr/>
        </p:nvSpPr>
        <p:spPr>
          <a:xfrm>
            <a:off x="3666564" y="2460581"/>
            <a:ext cx="6096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專業能力與學習態度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解決問題與自我精進</a:t>
            </a:r>
            <a:endParaRPr lang="en-US" altLang="zh-TW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溝通協調與團隊合作</a:t>
            </a:r>
          </a:p>
        </p:txBody>
      </p:sp>
    </p:spTree>
    <p:extLst>
      <p:ext uri="{BB962C8B-B14F-4D97-AF65-F5344CB8AC3E}">
        <p14:creationId xmlns:p14="http://schemas.microsoft.com/office/powerpoint/2010/main" val="24415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D0052-6524-6ABC-903E-94562761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30EF4-1E1C-8C28-B0E3-15F0B2BC4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3AC8C1B8-2722-4D00-E4DC-6213616CD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26303DEF-09FF-B3EE-6A8B-9DBD1669D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DF45F7AB-D91D-10A1-510C-0D37B77FF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8457957-AF6C-C640-C0DB-6DED0173E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45BA35A-E564-9D7B-B7BA-C8A6F04B84E6}"/>
              </a:ext>
            </a:extLst>
          </p:cNvPr>
          <p:cNvSpPr/>
          <p:nvPr/>
        </p:nvSpPr>
        <p:spPr>
          <a:xfrm>
            <a:off x="444994" y="466369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363463-60C6-9A45-A332-087EA71FCA23}"/>
              </a:ext>
            </a:extLst>
          </p:cNvPr>
          <p:cNvSpPr/>
          <p:nvPr/>
        </p:nvSpPr>
        <p:spPr>
          <a:xfrm>
            <a:off x="743998" y="1262522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</a:p>
          <a:p>
            <a:pPr marL="0" lvl="1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什麼是學習</a:t>
            </a: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歷程檔案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0E413D-C58B-D4EC-2F1B-77B485DB0AAB}"/>
              </a:ext>
            </a:extLst>
          </p:cNvPr>
          <p:cNvSpPr/>
          <p:nvPr/>
        </p:nvSpPr>
        <p:spPr>
          <a:xfrm>
            <a:off x="448573" y="448030"/>
            <a:ext cx="5641112" cy="3178429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5C2094-1912-538D-9D4E-D02344917080}"/>
              </a:ext>
            </a:extLst>
          </p:cNvPr>
          <p:cNvSpPr/>
          <p:nvPr/>
        </p:nvSpPr>
        <p:spPr>
          <a:xfrm>
            <a:off x="6087374" y="3627316"/>
            <a:ext cx="5659632" cy="278211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1743C5-CFBB-9DC1-4E9F-B2515422EEEA}"/>
              </a:ext>
            </a:extLst>
          </p:cNvPr>
          <p:cNvSpPr/>
          <p:nvPr/>
        </p:nvSpPr>
        <p:spPr>
          <a:xfrm>
            <a:off x="452832" y="3627316"/>
            <a:ext cx="5641112" cy="278211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E50DA4-9FF5-B59B-0BF7-D0D72FD5F10D}"/>
              </a:ext>
            </a:extLst>
          </p:cNvPr>
          <p:cNvSpPr/>
          <p:nvPr/>
        </p:nvSpPr>
        <p:spPr>
          <a:xfrm>
            <a:off x="6386266" y="1262522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lang="en-US" altLang="zh-TW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 algn="ctr">
              <a:defRPr/>
            </a:pP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學檔參考資料在哪裡？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BE85E1-CE09-C85A-8102-CE68E7CC86F3}"/>
              </a:ext>
            </a:extLst>
          </p:cNvPr>
          <p:cNvSpPr/>
          <p:nvPr/>
        </p:nvSpPr>
        <p:spPr>
          <a:xfrm>
            <a:off x="788300" y="4025843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</a:p>
          <a:p>
            <a:pPr marL="0" lvl="1" algn="ctr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學</a:t>
            </a: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檔上傳介面說明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2F4964-19ED-BF2F-C725-2EB0D9CAC6AD}"/>
              </a:ext>
            </a:extLst>
          </p:cNvPr>
          <p:cNvSpPr/>
          <p:nvPr/>
        </p:nvSpPr>
        <p:spPr>
          <a:xfrm>
            <a:off x="6386266" y="3998778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lang="en-US" altLang="zh-TW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 algn="ctr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學檔製作平台密技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540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A4A0C-16E1-E8BE-AAAE-6976C9884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57F022-B4B1-1FC7-75F0-62725C1D3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CC6D626B-E736-5588-E05C-034450713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F0B25598-3003-84A0-DDA4-3741259D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8EBE9D09-106C-3E6C-AFA4-DEDADFE48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D83398F-30F0-A934-A597-BC4F0C8E3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017A789-AB95-53CC-50D6-ABBC99F44754}"/>
              </a:ext>
            </a:extLst>
          </p:cNvPr>
          <p:cNvSpPr/>
          <p:nvPr/>
        </p:nvSpPr>
        <p:spPr>
          <a:xfrm>
            <a:off x="454888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BBA0E41-6EEC-C4C2-A156-8563ACCB0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402" y="718617"/>
            <a:ext cx="10024388" cy="542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1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D0052-6524-6ABC-903E-94562761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30EF4-1E1C-8C28-B0E3-15F0B2BC4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3AC8C1B8-2722-4D00-E4DC-6213616CD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26303DEF-09FF-B3EE-6A8B-9DBD1669D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DF45F7AB-D91D-10A1-510C-0D37B77FF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8457957-AF6C-C640-C0DB-6DED0173E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45BA35A-E564-9D7B-B7BA-C8A6F04B84E6}"/>
              </a:ext>
            </a:extLst>
          </p:cNvPr>
          <p:cNvSpPr/>
          <p:nvPr/>
        </p:nvSpPr>
        <p:spPr>
          <a:xfrm>
            <a:off x="478032" y="450856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363463-60C6-9A45-A332-087EA71FCA23}"/>
              </a:ext>
            </a:extLst>
          </p:cNvPr>
          <p:cNvSpPr/>
          <p:nvPr/>
        </p:nvSpPr>
        <p:spPr>
          <a:xfrm>
            <a:off x="743998" y="1262522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</a:p>
          <a:p>
            <a:pPr marL="0" lvl="1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什麼是學習</a:t>
            </a: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歷程檔案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0E413D-C58B-D4EC-2F1B-77B485DB0AAB}"/>
              </a:ext>
            </a:extLst>
          </p:cNvPr>
          <p:cNvSpPr/>
          <p:nvPr/>
        </p:nvSpPr>
        <p:spPr>
          <a:xfrm>
            <a:off x="6093688" y="451712"/>
            <a:ext cx="5641112" cy="3166122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5C2094-1912-538D-9D4E-D02344917080}"/>
              </a:ext>
            </a:extLst>
          </p:cNvPr>
          <p:cNvSpPr/>
          <p:nvPr/>
        </p:nvSpPr>
        <p:spPr>
          <a:xfrm>
            <a:off x="6096000" y="3618690"/>
            <a:ext cx="5659632" cy="278211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1743C5-CFBB-9DC1-4E9F-B2515422EEEA}"/>
              </a:ext>
            </a:extLst>
          </p:cNvPr>
          <p:cNvSpPr/>
          <p:nvPr/>
        </p:nvSpPr>
        <p:spPr>
          <a:xfrm>
            <a:off x="451421" y="450856"/>
            <a:ext cx="5641112" cy="278211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E50DA4-9FF5-B59B-0BF7-D0D72FD5F10D}"/>
              </a:ext>
            </a:extLst>
          </p:cNvPr>
          <p:cNvSpPr/>
          <p:nvPr/>
        </p:nvSpPr>
        <p:spPr>
          <a:xfrm>
            <a:off x="6386266" y="1262522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lang="en-US" altLang="zh-TW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 algn="ctr">
              <a:defRPr/>
            </a:pP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學檔參考資料在哪裡？</a:t>
            </a:r>
            <a:endParaRPr lang="en-US" altLang="zh-TW" sz="4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BE85E1-CE09-C85A-8102-CE68E7CC86F3}"/>
              </a:ext>
            </a:extLst>
          </p:cNvPr>
          <p:cNvSpPr/>
          <p:nvPr/>
        </p:nvSpPr>
        <p:spPr>
          <a:xfrm>
            <a:off x="788300" y="4025843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</a:p>
          <a:p>
            <a:pPr marL="0" lvl="1" algn="ctr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學</a:t>
            </a: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檔上傳介面說明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2F4964-19ED-BF2F-C725-2EB0D9CAC6AD}"/>
              </a:ext>
            </a:extLst>
          </p:cNvPr>
          <p:cNvSpPr/>
          <p:nvPr/>
        </p:nvSpPr>
        <p:spPr>
          <a:xfrm>
            <a:off x="6427100" y="3999446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lang="en-US" altLang="zh-TW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 algn="ctr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學檔製作平台密技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215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D025B-1200-AFA9-439D-DD3F272C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8B7B9B-2565-BA50-3632-559226B75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1D4BB1C-DAAD-46B6-1558-43EA85FC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B6324473-6EC6-EC11-7581-8862CA5BB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732D7481-BB38-32FB-54C7-A47E513C2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07CF139-6FBD-F3BD-9EFE-6C929BDFD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03A073B-9970-C8D4-39C6-EF4C5E7E788F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C12DBD-1A81-46E9-E505-2B4E77C49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462" y="678235"/>
            <a:ext cx="9923867" cy="550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1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05493B-31FE-90DB-B7CF-D1B4F381E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315943-7FE5-00AE-B23B-40B92672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A3AB9E87-2706-4E4F-F427-BC1AC1230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4AD3B648-CC12-58D1-90F5-775B9286C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E2194716-5BAB-BEEC-E47C-2C30A925B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3F1E69F-4B6C-B62A-1211-E41D30C55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2C5DF1-CA20-4F7C-0726-9620F48EFFFB}"/>
              </a:ext>
            </a:extLst>
          </p:cNvPr>
          <p:cNvSpPr/>
          <p:nvPr/>
        </p:nvSpPr>
        <p:spPr>
          <a:xfrm>
            <a:off x="457200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5" b="22256"/>
          <a:stretch/>
        </p:blipFill>
        <p:spPr>
          <a:xfrm>
            <a:off x="2508117" y="1332015"/>
            <a:ext cx="7550282" cy="3918865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2428167" y="5225676"/>
            <a:ext cx="8832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帳        號：你的學號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不用加英文字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預設密碼：身分證字號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第一碼英文大寫</a:t>
            </a:r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155330" y="681895"/>
            <a:ext cx="3981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一、帳號密碼說明</a:t>
            </a:r>
          </a:p>
        </p:txBody>
      </p:sp>
    </p:spTree>
    <p:extLst>
      <p:ext uri="{BB962C8B-B14F-4D97-AF65-F5344CB8AC3E}">
        <p14:creationId xmlns:p14="http://schemas.microsoft.com/office/powerpoint/2010/main" val="154311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4EE94-C39C-ED09-537A-8BA73352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F6291B-51A3-6F2F-3DA2-1C1CCEC47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0C5F4B46-9EDE-3525-1A2D-A33711BF6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A500FFF0-2504-83C4-9CC3-306F5D76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C8CC78D7-73AC-1AF2-2981-C9D25263F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7CBA75-2EE1-BA58-1A69-95EC17289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24DEEC2-2C75-2A07-EE32-977A74939B1E}"/>
              </a:ext>
            </a:extLst>
          </p:cNvPr>
          <p:cNvSpPr/>
          <p:nvPr/>
        </p:nvSpPr>
        <p:spPr>
          <a:xfrm>
            <a:off x="456817" y="456344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6" r="2450" b="43196"/>
          <a:stretch/>
        </p:blipFill>
        <p:spPr>
          <a:xfrm>
            <a:off x="1328268" y="1462261"/>
            <a:ext cx="9534698" cy="3209492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2995706" y="4749075"/>
            <a:ext cx="6301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第一次登入請修改密碼</a:t>
            </a:r>
            <a:endParaRPr lang="en-US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並且記錄起來，避免忘記密碼</a:t>
            </a:r>
            <a:endParaRPr lang="en-US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155330" y="681895"/>
            <a:ext cx="3981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一、帳號密碼說明</a:t>
            </a:r>
          </a:p>
        </p:txBody>
      </p:sp>
    </p:spTree>
    <p:extLst>
      <p:ext uri="{BB962C8B-B14F-4D97-AF65-F5344CB8AC3E}">
        <p14:creationId xmlns:p14="http://schemas.microsoft.com/office/powerpoint/2010/main" val="413411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4EE94-C39C-ED09-537A-8BA73352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F6291B-51A3-6F2F-3DA2-1C1CCEC47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0C5F4B46-9EDE-3525-1A2D-A33711BF6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A500FFF0-2504-83C4-9CC3-306F5D76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C8CC78D7-73AC-1AF2-2981-C9D25263F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7CBA75-2EE1-BA58-1A69-95EC17289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24DEEC2-2C75-2A07-EE32-977A74939B1E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3075060" y="4497998"/>
            <a:ext cx="63010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如果忘記密碼，可在登入旁點選「忘記密碼」，隨後可到預設電子郵件信箱重置密碼</a:t>
            </a:r>
            <a:endParaRPr lang="en-US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616" y="730059"/>
            <a:ext cx="4719241" cy="361946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120" y="730059"/>
            <a:ext cx="4633163" cy="361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1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4A415-B4D5-1300-50A5-1B95B4377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1B84FEC-B1E8-26F0-E2D6-9CF6784E8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E75ACD01-3FE9-E7F7-CD3A-F43F6DDFB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4B804DE8-4147-9A5E-29B8-9614BA29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8685BCD9-2954-60CE-3A33-0C81D5FF7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07E38C1-4FCF-AD99-6B29-AE6ED477C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AF90A04-BD86-261C-38B4-5CF68C18A22B}"/>
              </a:ext>
            </a:extLst>
          </p:cNvPr>
          <p:cNvSpPr/>
          <p:nvPr/>
        </p:nvSpPr>
        <p:spPr>
          <a:xfrm>
            <a:off x="454888" y="456986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5" b="19865"/>
          <a:stretch/>
        </p:blipFill>
        <p:spPr>
          <a:xfrm>
            <a:off x="2449929" y="570081"/>
            <a:ext cx="7550282" cy="4039404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2987079" y="4802725"/>
            <a:ext cx="6655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如果還是收不到信件</a:t>
            </a:r>
            <a:endParaRPr lang="en-US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請洽詢教務處蔡文杰老師</a:t>
            </a:r>
            <a:endParaRPr lang="en-US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209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7020C-5C79-953C-3EA1-32B5E4E1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4B37ABF-2B08-0783-13C6-5D393349F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CE8B17C8-222C-2C8D-4DCC-018758CA7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8BBB8CC2-0DE3-FCE4-E67F-9A97CAE88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4CB811DC-9AB6-59A0-F4B1-C131B449B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18516F3-8051-21E0-7550-C77A79B36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31EFD4-159B-1EA7-4A29-ABC92B821AC3}"/>
              </a:ext>
            </a:extLst>
          </p:cNvPr>
          <p:cNvSpPr/>
          <p:nvPr/>
        </p:nvSpPr>
        <p:spPr>
          <a:xfrm>
            <a:off x="457200" y="472017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71" y="1644482"/>
            <a:ext cx="10058400" cy="4616012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4201627" y="674772"/>
            <a:ext cx="397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二、登入頁面介紹</a:t>
            </a:r>
          </a:p>
        </p:txBody>
      </p:sp>
    </p:spTree>
    <p:extLst>
      <p:ext uri="{BB962C8B-B14F-4D97-AF65-F5344CB8AC3E}">
        <p14:creationId xmlns:p14="http://schemas.microsoft.com/office/powerpoint/2010/main" val="103716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E606F-12E3-5140-5B01-C73547F1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1F2785-2E9C-4A1F-322B-D18EF85B7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8CC7CD1D-397C-67D7-C0DC-A3D607947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D60925A5-E329-80D4-6F69-57F5F5641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E1EE4C90-07CF-64EB-6B4F-E19B7DB4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6339E30-3D58-B748-509B-70B12B2AA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7C5D88-D728-ED44-80EA-524B73685054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27" y="2355739"/>
            <a:ext cx="10058400" cy="2146093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201627" y="674772"/>
            <a:ext cx="397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三、基本資料介紹</a:t>
            </a:r>
          </a:p>
        </p:txBody>
      </p:sp>
    </p:spTree>
    <p:extLst>
      <p:ext uri="{BB962C8B-B14F-4D97-AF65-F5344CB8AC3E}">
        <p14:creationId xmlns:p14="http://schemas.microsoft.com/office/powerpoint/2010/main" val="162471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F453F-CA4D-D30F-28BC-E2671312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C3B74E-E14D-7856-D88A-D72AE869A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7E11D76C-F62F-9B01-24CF-ED784A09A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18EBB5C6-F8EE-38A7-95DC-F6F6A7AE9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04237FCB-1801-F5DD-C091-1046574D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A3F29A-348C-6984-807A-4F8C3D828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25563A2-4A39-04C7-9AD5-19D8878BE26A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76" y="2087564"/>
            <a:ext cx="10058400" cy="3792235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218253" y="796318"/>
            <a:ext cx="397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</a:p>
        </p:txBody>
      </p:sp>
    </p:spTree>
    <p:extLst>
      <p:ext uri="{BB962C8B-B14F-4D97-AF65-F5344CB8AC3E}">
        <p14:creationId xmlns:p14="http://schemas.microsoft.com/office/powerpoint/2010/main" val="120343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09946-1479-27C1-F037-EA3C89ECE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1B1C5C-CD63-43A6-FF20-9A304A616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577F8610-C10F-A1B6-0D2E-FA59D5844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5B44D3E8-B3AB-4887-44DE-70EB83512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7A034614-DEBE-D280-41E0-07C12C020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3AEBF6-F8F0-603A-6866-E50BED2E2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9B4ADAA-7915-DCE3-0675-5FC0C3628A0B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27"/>
          <a:stretch/>
        </p:blipFill>
        <p:spPr>
          <a:xfrm>
            <a:off x="1931040" y="1504603"/>
            <a:ext cx="8470628" cy="4706323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179612" y="657736"/>
            <a:ext cx="3973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</a:p>
        </p:txBody>
      </p:sp>
    </p:spTree>
    <p:extLst>
      <p:ext uri="{BB962C8B-B14F-4D97-AF65-F5344CB8AC3E}">
        <p14:creationId xmlns:p14="http://schemas.microsoft.com/office/powerpoint/2010/main" val="289776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E3D9E-8AC9-AE63-B84E-742A5572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528921-A351-2E8A-D1D0-2BBBBDE9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9FF2AAF1-2F96-3D32-CBA1-68D728336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940976BB-85FF-6EEF-621D-740435FEE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4C0E834D-65F9-F08B-BEAB-3F77DFBA6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E49F26-910C-3EA4-AFC0-8EC1D4EB2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056478-C361-7484-465D-99824837D0D1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27" y="1847969"/>
            <a:ext cx="10058400" cy="4552831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3597642" y="765768"/>
            <a:ext cx="4995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文件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948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E3D9E-8AC9-AE63-B84E-742A5572A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528921-A351-2E8A-D1D0-2BBBBDE9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9FF2AAF1-2F96-3D32-CBA1-68D728336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940976BB-85FF-6EEF-621D-740435FEE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4C0E834D-65F9-F08B-BEAB-3F77DFBA6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E49F26-910C-3EA4-AFC0-8EC1D4EB2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056478-C361-7484-465D-99824837D0D1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7" y="1607955"/>
            <a:ext cx="10058400" cy="4513484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3549535" y="816306"/>
            <a:ext cx="5261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影音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44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A25E0-D8CB-B0BF-E67C-93A3464F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22B9966-5BEA-8E6E-7F6C-E67B6AF35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4F57F9C6-1AD2-B69D-FF76-0888EBC9E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010BFD7E-5BA2-30B0-9D5A-134EAFAB0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40CC42CE-62BA-0E7C-3F07-B036C3543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CE49DD6-1C40-CB29-B0AA-908C99FCE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A2C3671-CDF5-576C-B715-A26409C56060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316778" y="753225"/>
            <a:ext cx="5868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百字簡述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12" y="1533591"/>
            <a:ext cx="10058400" cy="447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5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B51A9-70A6-7093-DA71-ACBBCFBFB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1CF458F-3C1C-F6CA-A687-38BBE863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80E6C85F-327A-61C6-4AFB-D6C564542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CA2C41BE-7069-D408-E761-DF57B3812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6E61F943-6E36-166E-71CA-3DA7ECA9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5550A1-9DEB-9DF6-B116-162C0E1EF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392128D-D941-BE49-4CF2-3A83452585E1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316778" y="753225"/>
            <a:ext cx="5868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上傳頁面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7" y="1469621"/>
            <a:ext cx="10058400" cy="450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28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1A649-CF0B-D15B-69C8-DE39A4E5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D64F32-014F-A86D-268D-B0395963F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934FFB55-A7FD-DC90-552C-722E7C107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A0A5C25D-BCA8-352C-F010-DBDE667F4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605EB8E-CC84-1990-824E-A8C914C70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9C933F-4580-B3DD-3895-94144A284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1F1D2D9-8CE1-02EA-21D0-27A34F0F3BD5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316778" y="753225"/>
            <a:ext cx="5868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認證確認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970" y="2048427"/>
            <a:ext cx="10058400" cy="339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CCEB6-B46F-11E2-0E23-2CBE0535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B55B17-3C2C-13DF-75BE-46B5A7825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F94FF673-2B2B-6997-801A-125F42FC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6D2A7F85-CB67-1F70-0E24-E0759AF90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FE52CB72-F928-4FA5-5B4B-2D0BB5658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8866CD9-0E1A-F665-7AA5-48C550F6D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2C6DDA0-FD52-D19C-6C46-404852DCF18A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346636" y="658660"/>
            <a:ext cx="805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學習成果上傳後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06"/>
          <a:stretch/>
        </p:blipFill>
        <p:spPr>
          <a:xfrm>
            <a:off x="2089166" y="1399556"/>
            <a:ext cx="8193678" cy="466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A25E0-D8CB-B0BF-E67C-93A3464F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22B9966-5BEA-8E6E-7F6C-E67B6AF35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4F57F9C6-1AD2-B69D-FF76-0888EBC9E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010BFD7E-5BA2-30B0-9D5A-134EAFAB0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40CC42CE-62BA-0E7C-3F07-B036C3543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CE49DD6-1C40-CB29-B0AA-908C99FCE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A2C3671-CDF5-576C-B715-A26409C56060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346636" y="658660"/>
            <a:ext cx="805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學習成果數量上限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317" y="1963436"/>
            <a:ext cx="5562600" cy="1885950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2767932" y="4098534"/>
            <a:ext cx="66553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一學期</a:t>
            </a:r>
            <a:endParaRPr lang="en-US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一門課程</a:t>
            </a:r>
            <a:endParaRPr lang="en-US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最多可上傳五件學檔</a:t>
            </a:r>
            <a:endParaRPr lang="en-US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73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A1A649-CF0B-D15B-69C8-DE39A4E5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D64F32-014F-A86D-268D-B0395963F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934FFB55-A7FD-DC90-552C-722E7C107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A0A5C25D-BCA8-352C-F010-DBDE667F4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605EB8E-CC84-1990-824E-A8C914C70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9C933F-4580-B3DD-3895-94144A284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1F1D2D9-8CE1-02EA-21D0-27A34F0F3BD5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346636" y="658660"/>
            <a:ext cx="805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學習成果認證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6" b="18100"/>
          <a:stretch/>
        </p:blipFill>
        <p:spPr>
          <a:xfrm>
            <a:off x="1504897" y="1396432"/>
            <a:ext cx="9124987" cy="472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3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B51A9-70A6-7093-DA71-ACBBCFBFB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1CF458F-3C1C-F6CA-A687-38BBE863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80E6C85F-327A-61C6-4AFB-D6C564542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CA2C41BE-7069-D408-E761-DF57B3812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6E61F943-6E36-166E-71CA-3DA7ECA9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5550A1-9DEB-9DF6-B116-162C0E1EF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392128D-D941-BE49-4CF2-3A83452585E1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2346636" y="658660"/>
            <a:ext cx="805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學習成果補件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7" y="1506451"/>
            <a:ext cx="10058400" cy="432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0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CCEB6-B46F-11E2-0E23-2CBE0535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B55B17-3C2C-13DF-75BE-46B5A7825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F94FF673-2B2B-6997-801A-125F42FC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6D2A7F85-CB67-1F70-0E24-E0759AF90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FE52CB72-F928-4FA5-5B4B-2D0BB5658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8866CD9-0E1A-F665-7AA5-48C550F6D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2C6DDA0-FD52-D19C-6C46-404852DCF18A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346636" y="733989"/>
            <a:ext cx="805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勾選課程學習成果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63" y="1657109"/>
            <a:ext cx="10058400" cy="3050728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2995706" y="4890391"/>
            <a:ext cx="6301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「實習科目」的學習成果</a:t>
            </a:r>
            <a:endParaRPr lang="en-US" altLang="zh-TW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盡可能多上傳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多勾選</a:t>
            </a:r>
            <a:endParaRPr lang="en-US" altLang="zh-TW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91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D39A2-82AE-078B-FB18-271A2CCC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25E060D-8DD8-888B-ECC5-B26CB5DCC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AAEA9B8D-44EE-6FE7-54D1-5DED7D3CB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9F5BD4FF-8811-500E-D521-52C02DB3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C86FB24-76E9-BA9D-0096-41BF67BCC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F51DC4-D444-48DA-2B13-3DA4E2E51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923B98-9E63-1E71-64E3-08D8274F5629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750" y="626211"/>
            <a:ext cx="8423903" cy="4394775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3008797" y="5057187"/>
            <a:ext cx="6301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「實習科目」是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pPr algn="ctr"/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各科課程地圖的「紅字課程」</a:t>
            </a:r>
            <a:endParaRPr lang="en-US" altLang="zh-TW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542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2DC95-52C3-54DE-3B69-A564BF811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312DBD-1C14-8D71-0B16-AB53DA52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D139FA59-AC83-E2BF-CA48-00B7312D7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8A89F684-7458-BAD2-21EC-730746881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5D8CBAAA-42BA-4879-FF4F-BB852914B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38BC8A-D31C-8CA8-909E-AC01D38B5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3140F94-97C0-D13D-BE8F-58C6F36E780C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91" y="1862090"/>
            <a:ext cx="10058400" cy="3025878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2346636" y="860119"/>
            <a:ext cx="805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四、學習成果上傳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學習成果勾選期限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995706" y="4989528"/>
            <a:ext cx="6301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上傳期限</a:t>
            </a:r>
            <a:endParaRPr lang="en-US" altLang="zh-TW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每學年結束前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(7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31</a:t>
            </a:r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日前</a:t>
            </a:r>
            <a:r>
              <a:rPr lang="en-US" altLang="zh-TW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379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B2BE5-0126-FA58-9ED7-1336ADE6E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81C0AB-F345-EC68-AAFF-7DBBADBC4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C78AB585-7C7B-0262-6219-586689C92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4CD5290B-5E69-2F22-655A-2FEEA43F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E9431324-60DF-830C-BD3B-1AA7089A8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657DFB3-A607-F007-A823-843D8F1DC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D164385-8174-DB0A-7031-C191AE122B3B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7" y="2326601"/>
            <a:ext cx="10058400" cy="2779078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189615" y="887260"/>
            <a:ext cx="4006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五、多元表現上傳</a:t>
            </a:r>
          </a:p>
        </p:txBody>
      </p:sp>
    </p:spTree>
    <p:extLst>
      <p:ext uri="{BB962C8B-B14F-4D97-AF65-F5344CB8AC3E}">
        <p14:creationId xmlns:p14="http://schemas.microsoft.com/office/powerpoint/2010/main" val="82980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CCEB6-B46F-11E2-0E23-2CBE0535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B55B17-3C2C-13DF-75BE-46B5A7825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F94FF673-2B2B-6997-801A-125F42FC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6D2A7F85-CB67-1F70-0E24-E0759AF90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FE52CB72-F928-4FA5-5B4B-2D0BB5658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8866CD9-0E1A-F665-7AA5-48C550F6D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2C6DDA0-FD52-D19C-6C46-404852DCF18A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4189615" y="887260"/>
            <a:ext cx="4006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五、多元表現勾選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90" y="2287595"/>
            <a:ext cx="10058400" cy="274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41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D39A2-82AE-078B-FB18-271A2CCC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25E060D-8DD8-888B-ECC5-B26CB5DCC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AAEA9B8D-44EE-6FE7-54D1-5DED7D3CB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9F5BD4FF-8811-500E-D521-52C02DB3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C86FB24-76E9-BA9D-0096-41BF67BCC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F51DC4-D444-48DA-2B13-3DA4E2E51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923B98-9E63-1E71-64E3-08D8274F5629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225338" y="2536234"/>
            <a:ext cx="645067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學長姐的三年努力</a:t>
            </a:r>
            <a:endParaRPr lang="en-US" altLang="zh-TW" sz="55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5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多元表現綜整分享</a:t>
            </a:r>
          </a:p>
        </p:txBody>
      </p:sp>
    </p:spTree>
    <p:extLst>
      <p:ext uri="{BB962C8B-B14F-4D97-AF65-F5344CB8AC3E}">
        <p14:creationId xmlns:p14="http://schemas.microsoft.com/office/powerpoint/2010/main" val="57527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D0052-6524-6ABC-903E-94562761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30EF4-1E1C-8C28-B0E3-15F0B2BC4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3AC8C1B8-2722-4D00-E4DC-6213616CD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26303DEF-09FF-B3EE-6A8B-9DBD1669D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DF45F7AB-D91D-10A1-510C-0D37B77FF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8457957-AF6C-C640-C0DB-6DED0173E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45BA35A-E564-9D7B-B7BA-C8A6F04B84E6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363463-60C6-9A45-A332-087EA71FCA23}"/>
              </a:ext>
            </a:extLst>
          </p:cNvPr>
          <p:cNvSpPr/>
          <p:nvPr/>
        </p:nvSpPr>
        <p:spPr>
          <a:xfrm>
            <a:off x="743998" y="1262522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1 </a:t>
            </a:r>
          </a:p>
          <a:p>
            <a:pPr marL="0" lvl="1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什麼是學習</a:t>
            </a: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歷程檔案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0E413D-C58B-D4EC-2F1B-77B485DB0AAB}"/>
              </a:ext>
            </a:extLst>
          </p:cNvPr>
          <p:cNvSpPr/>
          <p:nvPr/>
        </p:nvSpPr>
        <p:spPr>
          <a:xfrm>
            <a:off x="6084723" y="451712"/>
            <a:ext cx="5641112" cy="3166122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5C2094-1912-538D-9D4E-D02344917080}"/>
              </a:ext>
            </a:extLst>
          </p:cNvPr>
          <p:cNvSpPr/>
          <p:nvPr/>
        </p:nvSpPr>
        <p:spPr>
          <a:xfrm>
            <a:off x="431744" y="452348"/>
            <a:ext cx="5659632" cy="3165485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1743C5-CFBB-9DC1-4E9F-B2515422EEEA}"/>
              </a:ext>
            </a:extLst>
          </p:cNvPr>
          <p:cNvSpPr/>
          <p:nvPr/>
        </p:nvSpPr>
        <p:spPr>
          <a:xfrm>
            <a:off x="452832" y="3618690"/>
            <a:ext cx="5641112" cy="278211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E50DA4-9FF5-B59B-0BF7-D0D72FD5F10D}"/>
              </a:ext>
            </a:extLst>
          </p:cNvPr>
          <p:cNvSpPr/>
          <p:nvPr/>
        </p:nvSpPr>
        <p:spPr>
          <a:xfrm>
            <a:off x="6386266" y="1262522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lang="en-US" altLang="zh-TW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 algn="ctr">
              <a:defRPr/>
            </a:pP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學檔參考資料在哪裡？</a:t>
            </a:r>
            <a:endParaRPr lang="en-US" altLang="zh-TW" sz="4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BE85E1-CE09-C85A-8102-CE68E7CC86F3}"/>
              </a:ext>
            </a:extLst>
          </p:cNvPr>
          <p:cNvSpPr/>
          <p:nvPr/>
        </p:nvSpPr>
        <p:spPr>
          <a:xfrm>
            <a:off x="788300" y="4025843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</a:p>
          <a:p>
            <a:pPr marL="0" lvl="1" algn="ctr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學</a:t>
            </a:r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檔上傳介面說明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2F4964-19ED-BF2F-C725-2EB0D9CAC6AD}"/>
              </a:ext>
            </a:extLst>
          </p:cNvPr>
          <p:cNvSpPr/>
          <p:nvPr/>
        </p:nvSpPr>
        <p:spPr>
          <a:xfrm>
            <a:off x="6386266" y="3998778"/>
            <a:ext cx="5079100" cy="1600199"/>
          </a:xfrm>
          <a:prstGeom prst="rect">
            <a:avLst/>
          </a:prstGeom>
          <a:solidFill>
            <a:schemeClr val="tx1">
              <a:lumMod val="95000"/>
              <a:lumOff val="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lvl="1" algn="ctr">
              <a:defRPr/>
            </a:pPr>
            <a:r>
              <a:rPr lang="en-US" altLang="zh-TW" sz="4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1" algn="ctr">
              <a:defRPr/>
            </a:pPr>
            <a:r>
              <a:rPr kumimoji="0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學檔製作平台密技</a:t>
            </a:r>
            <a:endParaRPr kumimoji="0" lang="en-US" altLang="zh-TW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345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293CF-D8D8-DC3C-0A69-4C32D62F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25BE7D-9A9A-7F90-1E0F-4864AF026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0ED0344F-559E-62BA-2F45-7207C5489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10606691-05E9-8471-2590-EAF7BDF0D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BD6D452E-7460-38F9-335B-E0B7C2DA5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A9C877D-85CF-E2EA-09AD-0732D04AB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B2397FB-D51A-6DC3-FF41-9FBA331058C6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926" y="1271941"/>
            <a:ext cx="3780198" cy="1382990"/>
          </a:xfrm>
          <a:prstGeom prst="rect">
            <a:avLst/>
          </a:prstGeom>
        </p:spPr>
      </p:pic>
      <p:pic>
        <p:nvPicPr>
          <p:cNvPr id="3" name="圖片 2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0789" y="1152747"/>
            <a:ext cx="3134284" cy="1621378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1579327" y="3113244"/>
            <a:ext cx="42883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資料整理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課程學習成果架構發想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6989809" y="3101535"/>
            <a:ext cx="346761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漂亮的文字轉圖片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生成風格圖示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9148" y="4386639"/>
            <a:ext cx="1768713" cy="175115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9233" y="4410932"/>
            <a:ext cx="1760434" cy="17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9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A18C0-430E-31BC-4B83-784915126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91FEB4-7892-B263-ADFD-51229A99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F7961064-FCC8-0BE9-B855-5FB937973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F4B1190E-F945-B9FD-0C72-82AD9AC9D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3BBF1796-58BE-32BB-16AC-D60C18666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0C3323E-BC6B-9422-FA18-0831DF170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1D20130-AB8B-BBA0-DCC0-3245636D866B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AB4C8A3-30A9-7AD0-266C-D2D41B1487A3}"/>
              </a:ext>
            </a:extLst>
          </p:cNvPr>
          <p:cNvSpPr txBox="1"/>
          <p:nvPr/>
        </p:nvSpPr>
        <p:spPr>
          <a:xfrm>
            <a:off x="2321858" y="685999"/>
            <a:ext cx="77829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預防「恐怖谷效應」</a:t>
            </a:r>
            <a:endParaRPr lang="en-US" altLang="zh-TW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15975AA-A3B8-B150-496E-2C47B890293C}"/>
              </a:ext>
            </a:extLst>
          </p:cNvPr>
          <p:cNvSpPr txBox="1"/>
          <p:nvPr/>
        </p:nvSpPr>
        <p:spPr>
          <a:xfrm>
            <a:off x="561177" y="1491507"/>
            <a:ext cx="6649657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日本機器人學家</a:t>
            </a:r>
            <a:endParaRPr lang="en-US" altLang="zh-TW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森政弘提出</a:t>
            </a:r>
            <a:endParaRPr lang="en-US" altLang="zh-TW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人對健康人類或類人形有好感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隨著擬人程度逐漸上升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但到特定程度會</a:t>
            </a:r>
            <a:r>
              <a:rPr lang="zh-TW" alt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驟然下降</a:t>
            </a:r>
            <a:endParaRPr lang="en-US" altLang="zh-TW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像是</a:t>
            </a:r>
            <a:r>
              <a:rPr lang="zh-TW" alt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殭屍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zh-TW" alt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某些機器人</a:t>
            </a:r>
            <a:endParaRPr lang="en-US" altLang="zh-TW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6610CC29-FD0E-09F7-32D5-85D1402C0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268" y="1840374"/>
            <a:ext cx="4264762" cy="4016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273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5717F-5857-B0BD-575D-A3ACD088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7AC5CA-1B56-9D5D-233E-7B7A6C00E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4A31A3F-A924-1CEA-0487-94411BE4B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08AD2EE3-7EB6-C4DD-8430-12DB5CA9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AB9E98ED-2823-6BB6-8D80-6F178FED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CAB3FBF-E3B4-1F42-F0E8-9EA78906D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BD5BFED-1A25-152F-EB9F-460DB4536EF3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14DFC70-BAA4-3F96-DE35-C4A490DC1B4E}"/>
              </a:ext>
            </a:extLst>
          </p:cNvPr>
          <p:cNvSpPr txBox="1"/>
          <p:nvPr/>
        </p:nvSpPr>
        <p:spPr>
          <a:xfrm>
            <a:off x="3886007" y="722066"/>
            <a:ext cx="44215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恐怖谷效應</a:t>
            </a:r>
            <a:endParaRPr lang="en-US" altLang="zh-TW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939DD9D1-7FB3-79EB-D212-3BD0A434F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787" y="2001053"/>
            <a:ext cx="3199918" cy="1891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">
            <a:extLst>
              <a:ext uri="{FF2B5EF4-FFF2-40B4-BE49-F238E27FC236}">
                <a16:creationId xmlns:a16="http://schemas.microsoft.com/office/drawing/2014/main" id="{6139C86D-D31E-74D0-F1C5-A5F36F0D9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466" y="3067291"/>
            <a:ext cx="2063881" cy="19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4">
            <a:extLst>
              <a:ext uri="{FF2B5EF4-FFF2-40B4-BE49-F238E27FC236}">
                <a16:creationId xmlns:a16="http://schemas.microsoft.com/office/drawing/2014/main" id="{2D49EDAE-4889-868F-07F3-9E7FC4D08C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1"/>
          <a:stretch/>
        </p:blipFill>
        <p:spPr bwMode="auto">
          <a:xfrm>
            <a:off x="7476314" y="4378129"/>
            <a:ext cx="1969265" cy="1761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5">
            <a:extLst>
              <a:ext uri="{FF2B5EF4-FFF2-40B4-BE49-F238E27FC236}">
                <a16:creationId xmlns:a16="http://schemas.microsoft.com/office/drawing/2014/main" id="{71AB65B6-AB69-3E52-9A4E-2AF2CFBE7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8535" y="1063808"/>
            <a:ext cx="2461260" cy="2668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869436AA-6F1C-8C0C-8978-A34F412562BA}"/>
              </a:ext>
            </a:extLst>
          </p:cNvPr>
          <p:cNvCxnSpPr/>
          <p:nvPr/>
        </p:nvCxnSpPr>
        <p:spPr>
          <a:xfrm flipV="1">
            <a:off x="3773347" y="3275635"/>
            <a:ext cx="445677" cy="456338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CD7098F7-6A60-12F8-211C-5085A7AE35DC}"/>
              </a:ext>
            </a:extLst>
          </p:cNvPr>
          <p:cNvCxnSpPr/>
          <p:nvPr/>
        </p:nvCxnSpPr>
        <p:spPr>
          <a:xfrm flipV="1">
            <a:off x="9131648" y="3584245"/>
            <a:ext cx="646948" cy="789411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FFE6F93A-3880-61BC-350C-2AB5BAF58EFB}"/>
              </a:ext>
            </a:extLst>
          </p:cNvPr>
          <p:cNvCxnSpPr/>
          <p:nvPr/>
        </p:nvCxnSpPr>
        <p:spPr>
          <a:xfrm>
            <a:off x="6571902" y="3892855"/>
            <a:ext cx="870752" cy="1365813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13E06FB-77B6-A6C6-C51B-67B559784DFE}"/>
              </a:ext>
            </a:extLst>
          </p:cNvPr>
          <p:cNvSpPr txBox="1"/>
          <p:nvPr/>
        </p:nvSpPr>
        <p:spPr>
          <a:xfrm>
            <a:off x="457972" y="1286542"/>
            <a:ext cx="150586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喜歡</a:t>
            </a:r>
            <a:endParaRPr lang="en-US" altLang="zh-TW" sz="3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98353AA2-A6FF-F133-6152-6C99C720DD1E}"/>
              </a:ext>
            </a:extLst>
          </p:cNvPr>
          <p:cNvSpPr txBox="1"/>
          <p:nvPr/>
        </p:nvSpPr>
        <p:spPr>
          <a:xfrm>
            <a:off x="457199" y="5644109"/>
            <a:ext cx="150586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厭惡</a:t>
            </a:r>
            <a:endParaRPr lang="en-US" altLang="zh-TW" sz="3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034EB61A-0B4A-91A3-267B-6ABE54C7C129}"/>
              </a:ext>
            </a:extLst>
          </p:cNvPr>
          <p:cNvCxnSpPr/>
          <p:nvPr/>
        </p:nvCxnSpPr>
        <p:spPr>
          <a:xfrm>
            <a:off x="1210132" y="2001053"/>
            <a:ext cx="773" cy="3508496"/>
          </a:xfrm>
          <a:prstGeom prst="straightConnector1">
            <a:avLst/>
          </a:prstGeom>
          <a:ln w="76200">
            <a:solidFill>
              <a:srgbClr val="0070C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21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52280-7C9F-53AB-DC45-3917E0205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4C0159-9C49-89C7-F61D-5A6635FF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19A7C6B4-B9B8-C719-3775-22275C58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BDF15343-4C63-5EA9-105D-99E2269C1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2C3D4441-F76A-1265-744E-FCCC4199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C9A487F-8512-1CD6-5D13-6225B410F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4872B14-E234-1923-07D2-40D74C3EA13D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912A015-E04C-0056-E494-F9D89239B395}"/>
              </a:ext>
            </a:extLst>
          </p:cNvPr>
          <p:cNvSpPr txBox="1"/>
          <p:nvPr/>
        </p:nvSpPr>
        <p:spPr>
          <a:xfrm>
            <a:off x="2321858" y="685999"/>
            <a:ext cx="77829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預防「恐怖谷效應」</a:t>
            </a:r>
            <a:endParaRPr lang="en-US" altLang="zh-TW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DB35C4E-23F0-8254-9DBC-DB681F90AA9A}"/>
              </a:ext>
            </a:extLst>
          </p:cNvPr>
          <p:cNvSpPr txBox="1"/>
          <p:nvPr/>
        </p:nvSpPr>
        <p:spPr>
          <a:xfrm>
            <a:off x="1644641" y="2342518"/>
            <a:ext cx="890195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你可以請</a:t>
            </a:r>
            <a:r>
              <a:rPr lang="en-US" altLang="zh-TW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幫你整理資料</a:t>
            </a:r>
            <a:endParaRPr lang="en-US" altLang="zh-TW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但絕對不要請它幫你寫或自行生成！</a:t>
            </a:r>
            <a:endParaRPr lang="en-US" altLang="zh-TW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否則</a:t>
            </a:r>
            <a:endParaRPr lang="en-US" altLang="zh-TW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教授們一定會對你的學檔大為反感</a:t>
            </a:r>
            <a:endParaRPr lang="en-US" altLang="zh-TW" sz="4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2996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D63C9-2FF8-03A8-B1EB-074B0A7E4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74FA389-EEB9-1B3E-5799-FB2EA17F1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315702F3-D53F-AE94-60A5-1866725B7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D8D7499C-3D6F-2844-EA08-6D0B33A82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B6225B43-A1B8-6F98-E60B-C09AE3478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48223ED-A6B1-0B5F-AC2A-109673CDA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A07C841-2AB9-CBEB-69BE-76A1891DEA1F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B6AB1D13-4A95-C68E-7C78-439D00F05AAB}"/>
              </a:ext>
            </a:extLst>
          </p:cNvPr>
          <p:cNvGrpSpPr/>
          <p:nvPr/>
        </p:nvGrpSpPr>
        <p:grpSpPr>
          <a:xfrm>
            <a:off x="3047617" y="1794456"/>
            <a:ext cx="5943600" cy="3829050"/>
            <a:chOff x="3124200" y="1514475"/>
            <a:chExt cx="5943600" cy="382905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D3E6D0D-3795-20A6-C217-4C2C5E2A4D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1514475"/>
              <a:ext cx="5943600" cy="3829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201C4C89-7DB2-1DA3-E376-9D256F2A4A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4463" y="2557463"/>
              <a:ext cx="1743075" cy="1743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9DC9DD11-602E-A154-FC6D-5F676A6C1E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9963" y="2900363"/>
              <a:ext cx="5172075" cy="1057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2271A1D0-1D8A-FA5F-5987-218E45EA52A8}"/>
              </a:ext>
            </a:extLst>
          </p:cNvPr>
          <p:cNvSpPr txBox="1"/>
          <p:nvPr/>
        </p:nvSpPr>
        <p:spPr>
          <a:xfrm>
            <a:off x="2483318" y="713938"/>
            <a:ext cx="7506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哪組的表現比較好？</a:t>
            </a:r>
            <a:endParaRPr lang="zh-TW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F3AEE59-CDDE-A526-673D-F9A29D039A6D}"/>
              </a:ext>
            </a:extLst>
          </p:cNvPr>
          <p:cNvSpPr txBox="1"/>
          <p:nvPr/>
        </p:nvSpPr>
        <p:spPr>
          <a:xfrm>
            <a:off x="730065" y="2675888"/>
            <a:ext cx="2406367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數量取勝組</a:t>
            </a:r>
            <a:endParaRPr lang="en-US" altLang="zh-TW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一學期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隨手拍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張照片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ABD8B12-EA72-8776-2BBB-B033620F031A}"/>
              </a:ext>
            </a:extLst>
          </p:cNvPr>
          <p:cNvSpPr txBox="1"/>
          <p:nvPr/>
        </p:nvSpPr>
        <p:spPr>
          <a:xfrm>
            <a:off x="8781032" y="2600986"/>
            <a:ext cx="258794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貴精不貴多組</a:t>
            </a:r>
            <a:endParaRPr lang="en-US" altLang="zh-TW" sz="3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一學期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精選</a:t>
            </a:r>
            <a:r>
              <a:rPr lang="en-US" altLang="zh-TW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張</a:t>
            </a:r>
            <a:endParaRPr lang="en-US" altLang="zh-TW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攝影佳作</a:t>
            </a:r>
          </a:p>
        </p:txBody>
      </p:sp>
    </p:spTree>
    <p:extLst>
      <p:ext uri="{BB962C8B-B14F-4D97-AF65-F5344CB8AC3E}">
        <p14:creationId xmlns:p14="http://schemas.microsoft.com/office/powerpoint/2010/main" val="252308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F1DC6-36E0-BE33-C212-91BB5622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53DAC-9A05-315B-3533-355ADEFCB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7321D9FD-1C53-C1C7-DEC6-E74F75506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F5CA543A-95A2-D180-0B57-AB1289C6E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E62C0916-1180-45DB-EDC0-445167CE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E6588D-88D4-197C-8B4D-D405BDC1B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0579826-68AD-714A-1B03-28D14AB2DBDD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6A4402C-A275-3900-14D2-59782013B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667" y="1340379"/>
            <a:ext cx="5772198" cy="462181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DE7F49C-1F15-23BC-F70A-660DD9E55ABC}"/>
              </a:ext>
            </a:extLst>
          </p:cNvPr>
          <p:cNvSpPr txBox="1"/>
          <p:nvPr/>
        </p:nvSpPr>
        <p:spPr>
          <a:xfrm>
            <a:off x="747135" y="2445205"/>
            <a:ext cx="485726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不停累積加上</a:t>
            </a:r>
            <a:endParaRPr lang="en-US" altLang="zh-TW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長期的堅持</a:t>
            </a:r>
            <a:endParaRPr lang="en-US" altLang="zh-TW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就能突破失望之谷！</a:t>
            </a:r>
            <a:endParaRPr lang="zh-TW" alt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76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D39A2-82AE-078B-FB18-271A2CCC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25E060D-8DD8-888B-ECC5-B26CB5DCC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AAEA9B8D-44EE-6FE7-54D1-5DED7D3CB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9F5BD4FF-8811-500E-D521-52C02DB3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C86FB24-76E9-BA9D-0096-41BF67BCC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F51DC4-D444-48DA-2B13-3DA4E2E51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923B98-9E63-1E71-64E3-08D8274F5629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743200" y="2113041"/>
            <a:ext cx="666680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不是</a:t>
            </a:r>
            <a:r>
              <a:rPr lang="zh-TW" altLang="en-US" sz="5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做好的才上傳</a:t>
            </a:r>
            <a:endParaRPr lang="en-US" altLang="zh-TW" sz="55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5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而是</a:t>
            </a:r>
            <a:endParaRPr lang="en-US" altLang="zh-TW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72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上傳</a:t>
            </a:r>
            <a:r>
              <a:rPr lang="zh-TW" altLang="en-US" sz="7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就是做好</a:t>
            </a:r>
            <a:endParaRPr lang="en-US" altLang="zh-TW" sz="7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637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D39A2-82AE-078B-FB18-271A2CCC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25E060D-8DD8-888B-ECC5-B26CB5DCC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AAEA9B8D-44EE-6FE7-54D1-5DED7D3CB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9F5BD4FF-8811-500E-D521-52C02DB3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C86FB24-76E9-BA9D-0096-41BF67BCC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F51DC4-D444-48DA-2B13-3DA4E2E51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8" b="317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923B98-9E63-1E71-64E3-08D8274F5629}"/>
              </a:ext>
            </a:extLst>
          </p:cNvPr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101787" y="2113041"/>
            <a:ext cx="582705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平時</a:t>
            </a:r>
            <a:r>
              <a:rPr lang="zh-TW" altLang="en-US" sz="5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努力的過程</a:t>
            </a:r>
            <a:endParaRPr lang="en-US" altLang="zh-TW" sz="55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5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就是你</a:t>
            </a:r>
            <a:r>
              <a:rPr lang="zh-TW" altLang="en-US" sz="5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進步</a:t>
            </a:r>
            <a:r>
              <a:rPr lang="zh-TW" altLang="en-US" sz="5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5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證明</a:t>
            </a:r>
            <a:endParaRPr lang="en-US" altLang="zh-TW" sz="55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5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請同學多多上傳</a:t>
            </a:r>
            <a:endParaRPr lang="en-US" altLang="zh-TW" sz="55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120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1E4DA48-3973-4EF9-A320-26D734AD99F6}">
  <we:reference id="wa200010001" version="1.0.0.0" store="en-US" storeType="OMEX"/>
  <we:alternateReferences>
    <we:reference id="WA200010001" version="1.0.0.0" store="" storeType="OMEX"/>
  </we:alternateReferences>
  <we:properties>
    <we:property name="claude.fileId" value="&quot;cdc56876-08bf-4045-ba02-e6bb1363212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1647</Words>
  <Application>Microsoft Office PowerPoint</Application>
  <PresentationFormat>寬螢幕</PresentationFormat>
  <Paragraphs>264</Paragraphs>
  <Slides>62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62</vt:i4>
      </vt:variant>
    </vt:vector>
  </HeadingPairs>
  <TitlesOfParts>
    <vt:vector size="68" baseType="lpstr">
      <vt:lpstr>微軟正黑體</vt:lpstr>
      <vt:lpstr>Aptos</vt:lpstr>
      <vt:lpstr>Aptos Display</vt:lpstr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士鈞 賴</dc:creator>
  <cp:lastModifiedBy>士鈞 賴</cp:lastModifiedBy>
  <cp:revision>20</cp:revision>
  <dcterms:created xsi:type="dcterms:W3CDTF">2024-02-13T05:10:44Z</dcterms:created>
  <dcterms:modified xsi:type="dcterms:W3CDTF">2026-05-10T07:29:32Z</dcterms:modified>
</cp:coreProperties>
</file>